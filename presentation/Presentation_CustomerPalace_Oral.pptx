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5" d="100"/>
          <a:sy n="155" d="100"/>
        </p:scale>
        <p:origin x="472" y="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599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Aujourd'hui, je vais vous présenter notre projet de Data Quality et Customer Analytics réalisé à partir des données de CustomerPalace, une entreprise fictive qui propose plusieurs formules d'abonnement. Le point de départ est simple : l'entreprise souhaite mieux comprendre ses clients et leurs résiliations, qu'on appelle aussi le churn. Mais avant de calculer des indicateurs, il faut savoir si le fichier est fiable. Nous nous sommes donc posé cette question : peut-on exploiter cette base pour éclairer des décisions métier ? Pour y répondre, nous avons travaillé en Python, uniquement avec Pandas, NumPy et Matplotlib.</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Nous avons commencé par un diagnostic avec Pandas. Le fichier d'origine contient 10 000 lignes et 19 colonnes. Nous avons trouvé 250 doublons stricts, c'est-à-dire des lignes entièrement identiques. Nous avons aussi repéré 17 libellés différents dans la colonne des formules d'abonnement, dont plusieurs variantes pour une même catégorie. Par exemple, « Std » et « Standard » correspondent à la même formule. Autre difficulté : des nombres étaient enregistrés comme du texte, tels que « 34 years » pour l'âge ou « 34.4k » pour un revenu. Enfin, certaines dates étaient dans des formats différents, et des valeurs étaient absentes ou incohérentes. Si on ne corrige pas ces problèmes, on risque de compter des clients deux fois ou de fausser les regroupements et les statistiques.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Nous avons volontairement choisi une méthode simple, pour que quelqu'un d'autre puisse refaire notre travail. Tout le code est dans un notebook Jupyter commenté. Pandas nous sert à charger les données, transformer les colonnes et faire les tableaux de synthèse. NumPy sert notamment à représenter des valeurs manquantes. Matplotlib sert à créer les graphiques. Notre démarche suit quatre étapes : charger le CSV brut, diagnostiquer les problèmes, appliquer des règles de nettoyage clairement expliquées, puis analyser les données préparées. Nous avons aussi conservé le fichier original pour ne pas perdre la possibilité de revenir en arrière.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partie centrale du projet : nos choix de nettoyage. D'abord, nous avons utilisé drop_duplicates pour retirer uniquement les copies exactes. Nous n'avons pas supprimé des lignes seulement parce qu'elles partageaient le même nom ou le même email : sans règle métier, ce serait risqué. Ensuite, nous avons harmonisé les catégories avec strip, lower et replace. Par exemple, « Std » devient « Standard », mais nous gardons séparées les formules dont la signification n'est pas certaine. Pour les nombres, nous avons converti les formats explicites : « 34 years » devient 34 et « 34.4k » devient 34 400. En revanche, un âge négatif ou une satisfaction supérieure à 10 est rendu manquant, au lieu de fabriquer une correction. Ces limites sont des hypothèses de contrôle, pas des règles officielles de l'entreprise. Enfin, nous avons gardé les revenus inhabituellement élevés tant que nous n'avions pas de preuve d'erreur. Et nous avons retiré les colonnes identifiantes du fichier analytique final. Notre logique est donc de corriger ce qu'on comprend, et de signaler ce qu'on ne peut pas vérifier.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les traitements, nous passons de 10 000 à 9 750 lignes, car seuls les 250 doublons exacts ont été supprimés. Le fichier final contient 16 colonnes, contre 19 au départ, puisque nous avons retiré les identifiants, les noms et les emails. Pour évaluer notre travail, nous avons comparé les valeurs convertibles avant et après, sur les mêmes lignes dédupliquées. C'est important pour éviter une comparaison trompeuse. Les dates d'inscription exploitables passent d'environ 92 à 99,4 %, et les revenus annuels d'environ 93 à 96,4 %. Nous avons également ramené les libellés de formules de 17 à 7. Mais améliorer la qualité ne veut pas dire faire disparaître tous les manquants : 133 valeurs numériques ont été invalidées parce qu'elles ne respectaient pas nos règles. Et surtout, ces pourcentages prouvent que les formats sont plus facilement exploitables, pas que toutes les informations sont vraies.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Passons aux résultats métier. Nous avons choisi d'étudier le churn, c'est-à-dire la proportion de clients marqués comme ayant résilié. Pour le calculer, nous avons harmonisé la colonne churned en 0 et 1, puis utilisé la moyenne avec Pandas. Le taux global observé est de 13,79 %. En regroupant les clients par formule, nous trouvons 16,52 % pour Basic, 12,52 % pour Standard et 10,42 % pour Premium. Il faut aussi regarder les effectifs : Basic représente 4 020 clients et Premium 1 891. On observe donc davantage de résiliations dans le groupe Basic. Pour l'entreprise, cela suggère un segment à examiner en priorité. Mais attention : cela ne démontre pas que l'abonnement Basic cause la résiliation, car les profils de clients peuvent être différents.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Nous avons ensuite analysé deux autres dimensions. Premièrement, la satisfaction. Parmi les personnes ayant donné la note de 5 sur 10, 24,36 % ont résilié dans notre fichier. Parmi celles ayant donné 9 sur 10, le taux n'est que de 6,31 %. On observe donc une différence importante. La satisfaction pourrait être un bon indicateur à suivre, mais nous ne savons pas si cette note a été enregistrée avant ou après la résiliation. Deuxièmement, l'appareil utilisé. Le taux de churn est de 14,33 % pour les clients sur mobile contre 12,59 % sur ordinateur. Cet écart est plus limité, et il peut dépendre d'autres caractéristiques des clients. Ces résultats sont des pistes d'investigation, pas des preuves de cause à effet. C'est pour cela que nous affichons aussi le nombre de clients pour chaque groupe.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 notre réponse est nuancée : oui, le dataset est désormais plus cohérent et utile pour une analyse descriptive, à condition d'expliquer les règles de transformation. Nous avons supprimé les doublons exacts, harmonisé des formats et rendu visibles certaines anomalies, tout en conservant le fichier d'origine. En revanche, plusieurs limites restent importantes. Nous ne disposons pas de dictionnaire officiel pour confirmer toutes les règles métier. Nous n'avons pas la date exacte des résiliations, donc nous ne pouvons pas calculer un vrai taux sur une période précise ni établir une chronologie solide. Certains revenus très élevés restent à confirmer. Nous ne recommanderions donc pas d'utiliser directement ce fichier pour prendre des décisions automatiques sur les clients. Le principal enseignement de ce projet est que nettoyer une base ne consiste pas simplement à supprimer les valeurs gênantes : il faut pouvoir justifier ce qu'on transforme, mesurer les effets et reconnaître ce qu'on ne sait pas. Merci pour votre attention.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9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13232" y="1024128"/>
            <a:ext cx="137160" cy="416052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235440" y="914400"/>
            <a:ext cx="1828800" cy="1828800"/>
          </a:xfrm>
          <a:prstGeom prst="ellipse">
            <a:avLst/>
          </a:prstGeom>
          <a:solidFill>
            <a:srgbClr val="24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533888" y="3474720"/>
            <a:ext cx="868680" cy="868680"/>
          </a:xfrm>
          <a:prstGeom prst="ellipse">
            <a:avLst/>
          </a:prstGeom>
          <a:solidFill>
            <a:srgbClr val="006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8992" y="978408"/>
            <a:ext cx="8229600" cy="215444"/>
          </a:xfrm>
          <a:prstGeom prst="rect">
            <a:avLst/>
          </a:prstGeom>
          <a:noFill/>
        </p:spPr>
        <p:txBody>
          <a:bodyPr wrap="square" lIns="18288" tIns="0" rIns="18288" bIns="0" anchor="t">
            <a:spAutoFit/>
          </a:bodyPr>
          <a:lstStyle/>
          <a:p>
            <a:pPr algn="l">
              <a:spcAft>
                <a:spcPts val="0"/>
              </a:spcAft>
              <a:defRPr sz="1400" b="1">
                <a:solidFill>
                  <a:srgbClr val="61D4C9"/>
                </a:solidFill>
                <a:latin typeface="Aptos"/>
              </a:defRPr>
            </a:pPr>
            <a:r>
              <a:rPr dirty="0"/>
              <a:t>PROJET M1  /  </a:t>
            </a:r>
            <a:r>
              <a:rPr lang="fr-FR" dirty="0"/>
              <a:t>renforcement python</a:t>
            </a:r>
            <a:endParaRPr dirty="0"/>
          </a:p>
        </p:txBody>
      </p:sp>
      <p:sp>
        <p:nvSpPr>
          <p:cNvPr id="7" name="TextBox 6"/>
          <p:cNvSpPr txBox="1"/>
          <p:nvPr/>
        </p:nvSpPr>
        <p:spPr>
          <a:xfrm>
            <a:off x="1051560" y="1581912"/>
            <a:ext cx="9144000" cy="630936"/>
          </a:xfrm>
          <a:prstGeom prst="rect">
            <a:avLst/>
          </a:prstGeom>
          <a:noFill/>
        </p:spPr>
        <p:txBody>
          <a:bodyPr wrap="square" lIns="18288" tIns="0" rIns="18288" bIns="0" anchor="t">
            <a:spAutoFit/>
          </a:bodyPr>
          <a:lstStyle/>
          <a:p>
            <a:pPr algn="l">
              <a:spcAft>
                <a:spcPts val="0"/>
              </a:spcAft>
              <a:defRPr sz="3900" b="1">
                <a:solidFill>
                  <a:srgbClr val="FFFFFF"/>
                </a:solidFill>
                <a:latin typeface="Aptos"/>
              </a:defRPr>
            </a:pPr>
            <a:r>
              <a:t>CUSTOMERPALACE</a:t>
            </a:r>
          </a:p>
        </p:txBody>
      </p:sp>
      <p:sp>
        <p:nvSpPr>
          <p:cNvPr id="8" name="TextBox 7"/>
          <p:cNvSpPr txBox="1"/>
          <p:nvPr/>
        </p:nvSpPr>
        <p:spPr>
          <a:xfrm>
            <a:off x="1069848" y="2377440"/>
            <a:ext cx="8778240" cy="1554480"/>
          </a:xfrm>
          <a:prstGeom prst="rect">
            <a:avLst/>
          </a:prstGeom>
          <a:noFill/>
        </p:spPr>
        <p:txBody>
          <a:bodyPr wrap="square" lIns="18288" tIns="0" rIns="18288" bIns="0" anchor="t">
            <a:spAutoFit/>
          </a:bodyPr>
          <a:lstStyle/>
          <a:p>
            <a:pPr algn="l">
              <a:spcAft>
                <a:spcPts val="0"/>
              </a:spcAft>
              <a:defRPr sz="3100" b="1">
                <a:solidFill>
                  <a:srgbClr val="FFFFFF"/>
                </a:solidFill>
                <a:latin typeface="Aptos"/>
              </a:defRPr>
            </a:pPr>
            <a:r>
              <a:t>Peut-on faire confiance</a:t>
            </a:r>
          </a:p>
          <a:p>
            <a:pPr algn="l">
              <a:spcAft>
                <a:spcPts val="0"/>
              </a:spcAft>
              <a:defRPr sz="3100" b="1">
                <a:solidFill>
                  <a:srgbClr val="FFFFFF"/>
                </a:solidFill>
                <a:latin typeface="Aptos"/>
              </a:defRPr>
            </a:pPr>
            <a:r>
              <a:t>aux données clients ?</a:t>
            </a:r>
          </a:p>
        </p:txBody>
      </p:sp>
      <p:sp>
        <p:nvSpPr>
          <p:cNvPr id="9" name="TextBox 8"/>
          <p:cNvSpPr txBox="1"/>
          <p:nvPr/>
        </p:nvSpPr>
        <p:spPr>
          <a:xfrm>
            <a:off x="1088136" y="4709160"/>
            <a:ext cx="9144000" cy="329184"/>
          </a:xfrm>
          <a:prstGeom prst="rect">
            <a:avLst/>
          </a:prstGeom>
          <a:noFill/>
        </p:spPr>
        <p:txBody>
          <a:bodyPr wrap="square" lIns="18288" tIns="0" rIns="18288" bIns="0" anchor="t">
            <a:spAutoFit/>
          </a:bodyPr>
          <a:lstStyle/>
          <a:p>
            <a:pPr algn="l">
              <a:spcAft>
                <a:spcPts val="0"/>
              </a:spcAft>
              <a:defRPr sz="1800" b="0">
                <a:solidFill>
                  <a:srgbClr val="CEDAE8"/>
                </a:solidFill>
                <a:latin typeface="Aptos"/>
              </a:defRPr>
            </a:pPr>
            <a:r>
              <a:t>Diagnostic · Nettoyage · Analyse du churn</a:t>
            </a:r>
          </a:p>
        </p:txBody>
      </p:sp>
      <p:sp>
        <p:nvSpPr>
          <p:cNvPr id="10" name="Rounded Rectangle 9"/>
          <p:cNvSpPr/>
          <p:nvPr/>
        </p:nvSpPr>
        <p:spPr>
          <a:xfrm>
            <a:off x="1069848" y="5715000"/>
            <a:ext cx="5303520" cy="438912"/>
          </a:xfrm>
          <a:prstGeom prst="roundRect">
            <a:avLst>
              <a:gd name="adj" fmla="val 15000"/>
            </a:avLst>
          </a:prstGeom>
          <a:solidFill>
            <a:srgbClr val="2436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61872" y="5815584"/>
            <a:ext cx="5029200" cy="184666"/>
          </a:xfrm>
          <a:prstGeom prst="rect">
            <a:avLst/>
          </a:prstGeom>
          <a:noFill/>
        </p:spPr>
        <p:txBody>
          <a:bodyPr wrap="square" lIns="18288" tIns="0" rIns="18288" bIns="0" anchor="t">
            <a:spAutoFit/>
          </a:bodyPr>
          <a:lstStyle/>
          <a:p>
            <a:pPr algn="l">
              <a:spcAft>
                <a:spcPts val="0"/>
              </a:spcAft>
              <a:defRPr sz="1200" b="1">
                <a:solidFill>
                  <a:srgbClr val="BEEDE6"/>
                </a:solidFill>
                <a:latin typeface="Aptos"/>
              </a:defRPr>
            </a:pPr>
            <a:r>
              <a:rPr lang="fr-FR" dirty="0"/>
              <a:t>TRAN Duc-Thinh | CANFIN </a:t>
            </a:r>
            <a:r>
              <a:rPr lang="fr-FR" dirty="0" err="1"/>
              <a:t>Obrayan</a:t>
            </a:r>
            <a:r>
              <a:rPr lang="fr-FR" dirty="0"/>
              <a:t> | BEYE Elhadji | ABDOULAYE </a:t>
            </a:r>
            <a:r>
              <a:rPr lang="fr-FR" dirty="0" err="1"/>
              <a:t>Izedine</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lgn="l">
              <a:spcAft>
                <a:spcPts val="0"/>
              </a:spcAft>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1. Diagnostic : une base exploitable, mais imparfaite</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Nous avons mesuré les anomalies avant toute modification.</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02</a:t>
            </a:r>
          </a:p>
        </p:txBody>
      </p:sp>
      <p:sp>
        <p:nvSpPr>
          <p:cNvPr id="10" name="Rounded Rectangle 9"/>
          <p:cNvSpPr/>
          <p:nvPr/>
        </p:nvSpPr>
        <p:spPr>
          <a:xfrm>
            <a:off x="658368"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093976"/>
            <a:ext cx="2414016" cy="493776"/>
          </a:xfrm>
          <a:prstGeom prst="rect">
            <a:avLst/>
          </a:prstGeom>
          <a:noFill/>
        </p:spPr>
        <p:txBody>
          <a:bodyPr wrap="square" lIns="18288" tIns="0" rIns="18288" bIns="0" anchor="t">
            <a:spAutoFit/>
          </a:bodyPr>
          <a:lstStyle/>
          <a:p>
            <a:pPr algn="ctr">
              <a:spcAft>
                <a:spcPts val="0"/>
              </a:spcAft>
              <a:defRPr sz="3100" b="1">
                <a:solidFill>
                  <a:srgbClr val="008E95"/>
                </a:solidFill>
                <a:latin typeface="Aptos"/>
              </a:defRPr>
            </a:pPr>
            <a:r>
              <a:t>10 000</a:t>
            </a:r>
          </a:p>
        </p:txBody>
      </p:sp>
      <p:sp>
        <p:nvSpPr>
          <p:cNvPr id="12" name="TextBox 11"/>
          <p:cNvSpPr txBox="1"/>
          <p:nvPr/>
        </p:nvSpPr>
        <p:spPr>
          <a:xfrm>
            <a:off x="786384" y="2660904"/>
            <a:ext cx="2450592" cy="237744"/>
          </a:xfrm>
          <a:prstGeom prst="rect">
            <a:avLst/>
          </a:prstGeom>
          <a:noFill/>
        </p:spPr>
        <p:txBody>
          <a:bodyPr wrap="square" lIns="18288" tIns="0" rIns="18288" bIns="0" anchor="t">
            <a:spAutoFit/>
          </a:bodyPr>
          <a:lstStyle/>
          <a:p>
            <a:pPr algn="ctr">
              <a:spcAft>
                <a:spcPts val="0"/>
              </a:spcAft>
              <a:defRPr sz="1200" b="0">
                <a:solidFill>
                  <a:srgbClr val="64748B"/>
                </a:solidFill>
                <a:latin typeface="Aptos"/>
              </a:defRPr>
            </a:pPr>
            <a:r>
              <a:t>lignes initiales</a:t>
            </a:r>
          </a:p>
        </p:txBody>
      </p:sp>
      <p:sp>
        <p:nvSpPr>
          <p:cNvPr id="13" name="Rounded Rectangle 12"/>
          <p:cNvSpPr/>
          <p:nvPr/>
        </p:nvSpPr>
        <p:spPr>
          <a:xfrm>
            <a:off x="3529584"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66744" y="2093976"/>
            <a:ext cx="2414016" cy="493776"/>
          </a:xfrm>
          <a:prstGeom prst="rect">
            <a:avLst/>
          </a:prstGeom>
          <a:noFill/>
        </p:spPr>
        <p:txBody>
          <a:bodyPr wrap="square" lIns="18288" tIns="0" rIns="18288" bIns="0" anchor="t">
            <a:spAutoFit/>
          </a:bodyPr>
          <a:lstStyle/>
          <a:p>
            <a:pPr algn="ctr">
              <a:spcAft>
                <a:spcPts val="0"/>
              </a:spcAft>
              <a:defRPr sz="3100" b="1">
                <a:solidFill>
                  <a:srgbClr val="008E95"/>
                </a:solidFill>
                <a:latin typeface="Aptos"/>
              </a:defRPr>
            </a:pPr>
            <a:r>
              <a:t>19</a:t>
            </a:r>
          </a:p>
        </p:txBody>
      </p:sp>
      <p:sp>
        <p:nvSpPr>
          <p:cNvPr id="15" name="TextBox 14"/>
          <p:cNvSpPr txBox="1"/>
          <p:nvPr/>
        </p:nvSpPr>
        <p:spPr>
          <a:xfrm>
            <a:off x="3657600" y="2660904"/>
            <a:ext cx="2450592" cy="237744"/>
          </a:xfrm>
          <a:prstGeom prst="rect">
            <a:avLst/>
          </a:prstGeom>
          <a:noFill/>
        </p:spPr>
        <p:txBody>
          <a:bodyPr wrap="square" lIns="18288" tIns="0" rIns="18288" bIns="0" anchor="t">
            <a:spAutoFit/>
          </a:bodyPr>
          <a:lstStyle/>
          <a:p>
            <a:pPr algn="ctr">
              <a:spcAft>
                <a:spcPts val="0"/>
              </a:spcAft>
              <a:defRPr sz="1200" b="0">
                <a:solidFill>
                  <a:srgbClr val="64748B"/>
                </a:solidFill>
                <a:latin typeface="Aptos"/>
              </a:defRPr>
            </a:pPr>
            <a:r>
              <a:t>colonnes</a:t>
            </a:r>
          </a:p>
        </p:txBody>
      </p:sp>
      <p:sp>
        <p:nvSpPr>
          <p:cNvPr id="16" name="Rounded Rectangle 15"/>
          <p:cNvSpPr/>
          <p:nvPr/>
        </p:nvSpPr>
        <p:spPr>
          <a:xfrm>
            <a:off x="6400800"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2093976"/>
            <a:ext cx="2414016" cy="493776"/>
          </a:xfrm>
          <a:prstGeom prst="rect">
            <a:avLst/>
          </a:prstGeom>
          <a:noFill/>
        </p:spPr>
        <p:txBody>
          <a:bodyPr wrap="square" lIns="18288" tIns="0" rIns="18288" bIns="0" anchor="t">
            <a:spAutoFit/>
          </a:bodyPr>
          <a:lstStyle/>
          <a:p>
            <a:pPr algn="ctr">
              <a:spcAft>
                <a:spcPts val="0"/>
              </a:spcAft>
              <a:defRPr sz="3100" b="1">
                <a:solidFill>
                  <a:srgbClr val="008E95"/>
                </a:solidFill>
                <a:latin typeface="Aptos"/>
              </a:defRPr>
            </a:pPr>
            <a:r>
              <a:t>250</a:t>
            </a:r>
          </a:p>
        </p:txBody>
      </p:sp>
      <p:sp>
        <p:nvSpPr>
          <p:cNvPr id="18" name="TextBox 17"/>
          <p:cNvSpPr txBox="1"/>
          <p:nvPr/>
        </p:nvSpPr>
        <p:spPr>
          <a:xfrm>
            <a:off x="6528816" y="2660904"/>
            <a:ext cx="2450592" cy="237744"/>
          </a:xfrm>
          <a:prstGeom prst="rect">
            <a:avLst/>
          </a:prstGeom>
          <a:noFill/>
        </p:spPr>
        <p:txBody>
          <a:bodyPr wrap="square" lIns="18288" tIns="0" rIns="18288" bIns="0" anchor="t">
            <a:spAutoFit/>
          </a:bodyPr>
          <a:lstStyle/>
          <a:p>
            <a:pPr algn="ctr">
              <a:spcAft>
                <a:spcPts val="0"/>
              </a:spcAft>
              <a:defRPr sz="1200" b="0">
                <a:solidFill>
                  <a:srgbClr val="64748B"/>
                </a:solidFill>
                <a:latin typeface="Aptos"/>
              </a:defRPr>
            </a:pPr>
            <a:r>
              <a:t>doublons exacts</a:t>
            </a:r>
          </a:p>
        </p:txBody>
      </p:sp>
      <p:sp>
        <p:nvSpPr>
          <p:cNvPr id="19" name="Rounded Rectangle 18"/>
          <p:cNvSpPr/>
          <p:nvPr/>
        </p:nvSpPr>
        <p:spPr>
          <a:xfrm>
            <a:off x="9272016" y="1920240"/>
            <a:ext cx="2706624" cy="117043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09176" y="2093976"/>
            <a:ext cx="2414016" cy="493776"/>
          </a:xfrm>
          <a:prstGeom prst="rect">
            <a:avLst/>
          </a:prstGeom>
          <a:noFill/>
        </p:spPr>
        <p:txBody>
          <a:bodyPr wrap="square" lIns="18288" tIns="0" rIns="18288" bIns="0" anchor="t">
            <a:spAutoFit/>
          </a:bodyPr>
          <a:lstStyle/>
          <a:p>
            <a:pPr algn="ctr">
              <a:spcAft>
                <a:spcPts val="0"/>
              </a:spcAft>
              <a:defRPr sz="3100" b="1">
                <a:solidFill>
                  <a:srgbClr val="008E95"/>
                </a:solidFill>
                <a:latin typeface="Aptos"/>
              </a:defRPr>
            </a:pPr>
            <a:r>
              <a:t>17</a:t>
            </a:r>
          </a:p>
        </p:txBody>
      </p:sp>
      <p:sp>
        <p:nvSpPr>
          <p:cNvPr id="21" name="TextBox 20"/>
          <p:cNvSpPr txBox="1"/>
          <p:nvPr/>
        </p:nvSpPr>
        <p:spPr>
          <a:xfrm>
            <a:off x="9400032" y="2660904"/>
            <a:ext cx="2450592" cy="237744"/>
          </a:xfrm>
          <a:prstGeom prst="rect">
            <a:avLst/>
          </a:prstGeom>
          <a:noFill/>
        </p:spPr>
        <p:txBody>
          <a:bodyPr wrap="square" lIns="18288" tIns="0" rIns="18288" bIns="0" anchor="t">
            <a:spAutoFit/>
          </a:bodyPr>
          <a:lstStyle/>
          <a:p>
            <a:pPr algn="ctr">
              <a:spcAft>
                <a:spcPts val="0"/>
              </a:spcAft>
              <a:defRPr sz="1200" b="0">
                <a:solidFill>
                  <a:srgbClr val="64748B"/>
                </a:solidFill>
                <a:latin typeface="Aptos"/>
              </a:defRPr>
            </a:pPr>
            <a:r>
              <a:t>libellés de formules</a:t>
            </a:r>
          </a:p>
        </p:txBody>
      </p:sp>
      <p:sp>
        <p:nvSpPr>
          <p:cNvPr id="22" name="Rounded Rectangle 21"/>
          <p:cNvSpPr/>
          <p:nvPr/>
        </p:nvSpPr>
        <p:spPr>
          <a:xfrm>
            <a:off x="658368" y="3401568"/>
            <a:ext cx="10881360" cy="2359152"/>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8" y="3712463"/>
            <a:ext cx="8229600" cy="347472"/>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Exemples de problèmes repérés</a:t>
            </a:r>
          </a:p>
        </p:txBody>
      </p:sp>
      <p:sp>
        <p:nvSpPr>
          <p:cNvPr id="24" name="Oval 23"/>
          <p:cNvSpPr/>
          <p:nvPr/>
        </p:nvSpPr>
        <p:spPr>
          <a:xfrm>
            <a:off x="978408" y="4297680"/>
            <a:ext cx="91440" cy="9144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4224528"/>
            <a:ext cx="1901952" cy="265176"/>
          </a:xfrm>
          <a:prstGeom prst="rect">
            <a:avLst/>
          </a:prstGeom>
          <a:noFill/>
        </p:spPr>
        <p:txBody>
          <a:bodyPr wrap="square" lIns="18288" tIns="0" rIns="18288" bIns="0" anchor="t">
            <a:spAutoFit/>
          </a:bodyPr>
          <a:lstStyle/>
          <a:p>
            <a:pPr algn="l">
              <a:spcAft>
                <a:spcPts val="0"/>
              </a:spcAft>
              <a:defRPr sz="1200" b="1">
                <a:solidFill>
                  <a:srgbClr val="008E95"/>
                </a:solidFill>
                <a:latin typeface="Aptos"/>
              </a:defRPr>
            </a:pPr>
            <a:r>
              <a:t>DOUBLONS</a:t>
            </a:r>
          </a:p>
        </p:txBody>
      </p:sp>
      <p:sp>
        <p:nvSpPr>
          <p:cNvPr id="26" name="TextBox 25"/>
          <p:cNvSpPr txBox="1"/>
          <p:nvPr/>
        </p:nvSpPr>
        <p:spPr>
          <a:xfrm>
            <a:off x="2971800" y="4224528"/>
            <a:ext cx="8046720" cy="274320"/>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Une même ligne peut être comptée deux fois.</a:t>
            </a:r>
          </a:p>
        </p:txBody>
      </p:sp>
      <p:sp>
        <p:nvSpPr>
          <p:cNvPr id="27" name="Oval 26"/>
          <p:cNvSpPr/>
          <p:nvPr/>
        </p:nvSpPr>
        <p:spPr>
          <a:xfrm>
            <a:off x="978408" y="4718304"/>
            <a:ext cx="91440" cy="9144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88720" y="4645152"/>
            <a:ext cx="1901952" cy="265176"/>
          </a:xfrm>
          <a:prstGeom prst="rect">
            <a:avLst/>
          </a:prstGeom>
          <a:noFill/>
        </p:spPr>
        <p:txBody>
          <a:bodyPr wrap="square" lIns="18288" tIns="0" rIns="18288" bIns="0" anchor="t">
            <a:spAutoFit/>
          </a:bodyPr>
          <a:lstStyle/>
          <a:p>
            <a:pPr algn="l">
              <a:spcAft>
                <a:spcPts val="0"/>
              </a:spcAft>
              <a:defRPr sz="1200" b="1">
                <a:solidFill>
                  <a:srgbClr val="008E95"/>
                </a:solidFill>
                <a:latin typeface="Aptos"/>
              </a:defRPr>
            </a:pPr>
            <a:r>
              <a:t>CATÉGORIES</a:t>
            </a:r>
          </a:p>
        </p:txBody>
      </p:sp>
      <p:sp>
        <p:nvSpPr>
          <p:cNvPr id="29" name="TextBox 28"/>
          <p:cNvSpPr txBox="1"/>
          <p:nvPr/>
        </p:nvSpPr>
        <p:spPr>
          <a:xfrm>
            <a:off x="2971800" y="4645152"/>
            <a:ext cx="8046720" cy="274320"/>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 Std » et « Standard » pour un même abonnement.</a:t>
            </a:r>
          </a:p>
        </p:txBody>
      </p:sp>
      <p:sp>
        <p:nvSpPr>
          <p:cNvPr id="30" name="Oval 29"/>
          <p:cNvSpPr/>
          <p:nvPr/>
        </p:nvSpPr>
        <p:spPr>
          <a:xfrm>
            <a:off x="978408" y="5138928"/>
            <a:ext cx="91440" cy="9144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88720" y="5065776"/>
            <a:ext cx="1901952" cy="265176"/>
          </a:xfrm>
          <a:prstGeom prst="rect">
            <a:avLst/>
          </a:prstGeom>
          <a:noFill/>
        </p:spPr>
        <p:txBody>
          <a:bodyPr wrap="square" lIns="18288" tIns="0" rIns="18288" bIns="0" anchor="t">
            <a:spAutoFit/>
          </a:bodyPr>
          <a:lstStyle/>
          <a:p>
            <a:pPr algn="l">
              <a:spcAft>
                <a:spcPts val="0"/>
              </a:spcAft>
              <a:defRPr sz="1200" b="1">
                <a:solidFill>
                  <a:srgbClr val="008E95"/>
                </a:solidFill>
                <a:latin typeface="Aptos"/>
              </a:defRPr>
            </a:pPr>
            <a:r>
              <a:t>FORMATS</a:t>
            </a:r>
          </a:p>
        </p:txBody>
      </p:sp>
      <p:sp>
        <p:nvSpPr>
          <p:cNvPr id="32" name="TextBox 31"/>
          <p:cNvSpPr txBox="1"/>
          <p:nvPr/>
        </p:nvSpPr>
        <p:spPr>
          <a:xfrm>
            <a:off x="2971800" y="5065776"/>
            <a:ext cx="8046720" cy="274320"/>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 34 years », « 34.4k », dates hétérogènes.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2. Notre méthode : simple et reproductible</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Un notebook unique, avec du code Python commenté à chaque étape.</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03</a:t>
            </a:r>
          </a:p>
        </p:txBody>
      </p:sp>
      <p:sp>
        <p:nvSpPr>
          <p:cNvPr id="10" name="Rounded Rectangle 9"/>
          <p:cNvSpPr/>
          <p:nvPr/>
        </p:nvSpPr>
        <p:spPr>
          <a:xfrm>
            <a:off x="685800"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59536"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404872"/>
            <a:ext cx="484632" cy="182880"/>
          </a:xfrm>
          <a:prstGeom prst="rect">
            <a:avLst/>
          </a:prstGeom>
          <a:noFill/>
        </p:spPr>
        <p:txBody>
          <a:bodyPr wrap="square" lIns="18288" tIns="0" rIns="18288" bIns="0" anchor="t">
            <a:spAutoFit/>
          </a:bodyPr>
          <a:lstStyle/>
          <a:p>
            <a:pPr algn="ctr">
              <a:spcAft>
                <a:spcPts val="0"/>
              </a:spcAft>
              <a:defRPr sz="1100" b="1">
                <a:solidFill>
                  <a:srgbClr val="FFFFFF"/>
                </a:solidFill>
                <a:latin typeface="Aptos"/>
              </a:defRPr>
            </a:pPr>
            <a:r>
              <a:t>01</a:t>
            </a:r>
          </a:p>
        </p:txBody>
      </p:sp>
      <p:sp>
        <p:nvSpPr>
          <p:cNvPr id="13" name="TextBox 12"/>
          <p:cNvSpPr txBox="1"/>
          <p:nvPr/>
        </p:nvSpPr>
        <p:spPr>
          <a:xfrm>
            <a:off x="1490472" y="2313432"/>
            <a:ext cx="1691640" cy="365760"/>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Lire</a:t>
            </a:r>
          </a:p>
        </p:txBody>
      </p:sp>
      <p:sp>
        <p:nvSpPr>
          <p:cNvPr id="14" name="TextBox 13"/>
          <p:cNvSpPr txBox="1"/>
          <p:nvPr/>
        </p:nvSpPr>
        <p:spPr>
          <a:xfrm>
            <a:off x="914400" y="2953512"/>
            <a:ext cx="2295144" cy="329184"/>
          </a:xfrm>
          <a:prstGeom prst="rect">
            <a:avLst/>
          </a:prstGeom>
          <a:noFill/>
        </p:spPr>
        <p:txBody>
          <a:bodyPr wrap="square" lIns="18288" tIns="0" rIns="18288" bIns="0" anchor="t">
            <a:spAutoFit/>
          </a:bodyPr>
          <a:lstStyle/>
          <a:p>
            <a:pPr algn="ctr">
              <a:spcAft>
                <a:spcPts val="0"/>
              </a:spcAft>
              <a:defRPr sz="1300" b="0">
                <a:solidFill>
                  <a:srgbClr val="64748B"/>
                </a:solidFill>
                <a:latin typeface="Aptos"/>
              </a:defRPr>
            </a:pPr>
            <a:r>
              <a:t>CSV initial</a:t>
            </a:r>
          </a:p>
        </p:txBody>
      </p:sp>
      <p:sp>
        <p:nvSpPr>
          <p:cNvPr id="15" name="TextBox 14"/>
          <p:cNvSpPr txBox="1"/>
          <p:nvPr/>
        </p:nvSpPr>
        <p:spPr>
          <a:xfrm>
            <a:off x="3401568" y="2551176"/>
            <a:ext cx="256032" cy="274320"/>
          </a:xfrm>
          <a:prstGeom prst="rect">
            <a:avLst/>
          </a:prstGeom>
          <a:noFill/>
        </p:spPr>
        <p:txBody>
          <a:bodyPr wrap="square" lIns="18288" tIns="0" rIns="18288" bIns="0" anchor="t">
            <a:spAutoFit/>
          </a:bodyPr>
          <a:lstStyle/>
          <a:p>
            <a:pPr algn="ctr">
              <a:spcAft>
                <a:spcPts val="0"/>
              </a:spcAft>
              <a:defRPr sz="2800" b="1">
                <a:solidFill>
                  <a:srgbClr val="008E95"/>
                </a:solidFill>
                <a:latin typeface="Aptos"/>
              </a:defRPr>
            </a:pPr>
            <a:r>
              <a:t>›</a:t>
            </a:r>
          </a:p>
        </p:txBody>
      </p:sp>
      <p:sp>
        <p:nvSpPr>
          <p:cNvPr id="16" name="Rounded Rectangle 15"/>
          <p:cNvSpPr/>
          <p:nvPr/>
        </p:nvSpPr>
        <p:spPr>
          <a:xfrm>
            <a:off x="3575304"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749040"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58184" y="2404872"/>
            <a:ext cx="484632" cy="182880"/>
          </a:xfrm>
          <a:prstGeom prst="rect">
            <a:avLst/>
          </a:prstGeom>
          <a:noFill/>
        </p:spPr>
        <p:txBody>
          <a:bodyPr wrap="square" lIns="18288" tIns="0" rIns="18288" bIns="0" anchor="t">
            <a:spAutoFit/>
          </a:bodyPr>
          <a:lstStyle/>
          <a:p>
            <a:pPr algn="ctr">
              <a:spcAft>
                <a:spcPts val="0"/>
              </a:spcAft>
              <a:defRPr sz="1100" b="1">
                <a:solidFill>
                  <a:srgbClr val="FFFFFF"/>
                </a:solidFill>
                <a:latin typeface="Aptos"/>
              </a:defRPr>
            </a:pPr>
            <a:r>
              <a:t>02</a:t>
            </a:r>
          </a:p>
        </p:txBody>
      </p:sp>
      <p:sp>
        <p:nvSpPr>
          <p:cNvPr id="19" name="TextBox 18"/>
          <p:cNvSpPr txBox="1"/>
          <p:nvPr/>
        </p:nvSpPr>
        <p:spPr>
          <a:xfrm>
            <a:off x="4379976" y="2313432"/>
            <a:ext cx="1691640" cy="365760"/>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Diagnostiquer</a:t>
            </a:r>
          </a:p>
        </p:txBody>
      </p:sp>
      <p:sp>
        <p:nvSpPr>
          <p:cNvPr id="20" name="TextBox 19"/>
          <p:cNvSpPr txBox="1"/>
          <p:nvPr/>
        </p:nvSpPr>
        <p:spPr>
          <a:xfrm>
            <a:off x="3803904" y="2953512"/>
            <a:ext cx="2295144" cy="329184"/>
          </a:xfrm>
          <a:prstGeom prst="rect">
            <a:avLst/>
          </a:prstGeom>
          <a:noFill/>
        </p:spPr>
        <p:txBody>
          <a:bodyPr wrap="square" lIns="18288" tIns="0" rIns="18288" bIns="0" anchor="t">
            <a:spAutoFit/>
          </a:bodyPr>
          <a:lstStyle/>
          <a:p>
            <a:pPr algn="ctr">
              <a:spcAft>
                <a:spcPts val="0"/>
              </a:spcAft>
              <a:defRPr sz="1300" b="0">
                <a:solidFill>
                  <a:srgbClr val="64748B"/>
                </a:solidFill>
                <a:latin typeface="Aptos"/>
              </a:defRPr>
            </a:pPr>
            <a:r>
              <a:t>doublons / formats</a:t>
            </a:r>
          </a:p>
        </p:txBody>
      </p:sp>
      <p:sp>
        <p:nvSpPr>
          <p:cNvPr id="21" name="TextBox 20"/>
          <p:cNvSpPr txBox="1"/>
          <p:nvPr/>
        </p:nvSpPr>
        <p:spPr>
          <a:xfrm>
            <a:off x="6291072" y="2551176"/>
            <a:ext cx="256032" cy="274320"/>
          </a:xfrm>
          <a:prstGeom prst="rect">
            <a:avLst/>
          </a:prstGeom>
          <a:noFill/>
        </p:spPr>
        <p:txBody>
          <a:bodyPr wrap="square" lIns="18288" tIns="0" rIns="18288" bIns="0" anchor="t">
            <a:spAutoFit/>
          </a:bodyPr>
          <a:lstStyle/>
          <a:p>
            <a:pPr algn="ctr">
              <a:spcAft>
                <a:spcPts val="0"/>
              </a:spcAft>
              <a:defRPr sz="2800" b="1">
                <a:solidFill>
                  <a:srgbClr val="008E95"/>
                </a:solidFill>
                <a:latin typeface="Aptos"/>
              </a:defRPr>
            </a:pPr>
            <a:r>
              <a:t>›</a:t>
            </a:r>
          </a:p>
        </p:txBody>
      </p:sp>
      <p:sp>
        <p:nvSpPr>
          <p:cNvPr id="22" name="Rounded Rectangle 21"/>
          <p:cNvSpPr/>
          <p:nvPr/>
        </p:nvSpPr>
        <p:spPr>
          <a:xfrm>
            <a:off x="6464808"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638544"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47688" y="2404872"/>
            <a:ext cx="484632" cy="182880"/>
          </a:xfrm>
          <a:prstGeom prst="rect">
            <a:avLst/>
          </a:prstGeom>
          <a:noFill/>
        </p:spPr>
        <p:txBody>
          <a:bodyPr wrap="square" lIns="18288" tIns="0" rIns="18288" bIns="0" anchor="t">
            <a:spAutoFit/>
          </a:bodyPr>
          <a:lstStyle/>
          <a:p>
            <a:pPr algn="ctr">
              <a:spcAft>
                <a:spcPts val="0"/>
              </a:spcAft>
              <a:defRPr sz="1100" b="1">
                <a:solidFill>
                  <a:srgbClr val="FFFFFF"/>
                </a:solidFill>
                <a:latin typeface="Aptos"/>
              </a:defRPr>
            </a:pPr>
            <a:r>
              <a:t>03</a:t>
            </a:r>
          </a:p>
        </p:txBody>
      </p:sp>
      <p:sp>
        <p:nvSpPr>
          <p:cNvPr id="25" name="TextBox 24"/>
          <p:cNvSpPr txBox="1"/>
          <p:nvPr/>
        </p:nvSpPr>
        <p:spPr>
          <a:xfrm>
            <a:off x="7269480" y="2313432"/>
            <a:ext cx="1691640" cy="365760"/>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Nettoyer</a:t>
            </a:r>
          </a:p>
        </p:txBody>
      </p:sp>
      <p:sp>
        <p:nvSpPr>
          <p:cNvPr id="26" name="TextBox 25"/>
          <p:cNvSpPr txBox="1"/>
          <p:nvPr/>
        </p:nvSpPr>
        <p:spPr>
          <a:xfrm>
            <a:off x="6693408" y="2953512"/>
            <a:ext cx="2295144" cy="329184"/>
          </a:xfrm>
          <a:prstGeom prst="rect">
            <a:avLst/>
          </a:prstGeom>
          <a:noFill/>
        </p:spPr>
        <p:txBody>
          <a:bodyPr wrap="square" lIns="18288" tIns="0" rIns="18288" bIns="0" anchor="t">
            <a:spAutoFit/>
          </a:bodyPr>
          <a:lstStyle/>
          <a:p>
            <a:pPr algn="ctr">
              <a:spcAft>
                <a:spcPts val="0"/>
              </a:spcAft>
              <a:defRPr sz="1300" b="0">
                <a:solidFill>
                  <a:srgbClr val="64748B"/>
                </a:solidFill>
                <a:latin typeface="Aptos"/>
              </a:defRPr>
            </a:pPr>
            <a:r>
              <a:t>règles explicites</a:t>
            </a:r>
          </a:p>
        </p:txBody>
      </p:sp>
      <p:sp>
        <p:nvSpPr>
          <p:cNvPr id="27" name="TextBox 26"/>
          <p:cNvSpPr txBox="1"/>
          <p:nvPr/>
        </p:nvSpPr>
        <p:spPr>
          <a:xfrm>
            <a:off x="9180576" y="2551176"/>
            <a:ext cx="256032" cy="274320"/>
          </a:xfrm>
          <a:prstGeom prst="rect">
            <a:avLst/>
          </a:prstGeom>
          <a:noFill/>
        </p:spPr>
        <p:txBody>
          <a:bodyPr wrap="square" lIns="18288" tIns="0" rIns="18288" bIns="0" anchor="t">
            <a:spAutoFit/>
          </a:bodyPr>
          <a:lstStyle/>
          <a:p>
            <a:pPr algn="ctr">
              <a:spcAft>
                <a:spcPts val="0"/>
              </a:spcAft>
              <a:defRPr sz="2800" b="1">
                <a:solidFill>
                  <a:srgbClr val="008E95"/>
                </a:solidFill>
                <a:latin typeface="Aptos"/>
              </a:defRPr>
            </a:pPr>
            <a:r>
              <a:t>›</a:t>
            </a:r>
          </a:p>
        </p:txBody>
      </p:sp>
      <p:sp>
        <p:nvSpPr>
          <p:cNvPr id="28" name="Rounded Rectangle 27"/>
          <p:cNvSpPr/>
          <p:nvPr/>
        </p:nvSpPr>
        <p:spPr>
          <a:xfrm>
            <a:off x="9354312" y="2084831"/>
            <a:ext cx="2706624" cy="160020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528048" y="2276856"/>
            <a:ext cx="502920" cy="502920"/>
          </a:xfrm>
          <a:prstGeom prst="ellipse">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37192" y="2404872"/>
            <a:ext cx="484632" cy="182880"/>
          </a:xfrm>
          <a:prstGeom prst="rect">
            <a:avLst/>
          </a:prstGeom>
          <a:noFill/>
        </p:spPr>
        <p:txBody>
          <a:bodyPr wrap="square" lIns="18288" tIns="0" rIns="18288" bIns="0" anchor="t">
            <a:spAutoFit/>
          </a:bodyPr>
          <a:lstStyle/>
          <a:p>
            <a:pPr algn="ctr">
              <a:spcAft>
                <a:spcPts val="0"/>
              </a:spcAft>
              <a:defRPr sz="1100" b="1">
                <a:solidFill>
                  <a:srgbClr val="FFFFFF"/>
                </a:solidFill>
                <a:latin typeface="Aptos"/>
              </a:defRPr>
            </a:pPr>
            <a:r>
              <a:t>04</a:t>
            </a:r>
          </a:p>
        </p:txBody>
      </p:sp>
      <p:sp>
        <p:nvSpPr>
          <p:cNvPr id="31" name="TextBox 30"/>
          <p:cNvSpPr txBox="1"/>
          <p:nvPr/>
        </p:nvSpPr>
        <p:spPr>
          <a:xfrm>
            <a:off x="10158984" y="2313432"/>
            <a:ext cx="1691640" cy="365760"/>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Analyser</a:t>
            </a:r>
          </a:p>
        </p:txBody>
      </p:sp>
      <p:sp>
        <p:nvSpPr>
          <p:cNvPr id="32" name="TextBox 31"/>
          <p:cNvSpPr txBox="1"/>
          <p:nvPr/>
        </p:nvSpPr>
        <p:spPr>
          <a:xfrm>
            <a:off x="9582912" y="2953512"/>
            <a:ext cx="2295144" cy="329184"/>
          </a:xfrm>
          <a:prstGeom prst="rect">
            <a:avLst/>
          </a:prstGeom>
          <a:noFill/>
        </p:spPr>
        <p:txBody>
          <a:bodyPr wrap="square" lIns="18288" tIns="0" rIns="18288" bIns="0" anchor="t">
            <a:spAutoFit/>
          </a:bodyPr>
          <a:lstStyle/>
          <a:p>
            <a:pPr algn="ctr">
              <a:spcAft>
                <a:spcPts val="0"/>
              </a:spcAft>
              <a:defRPr sz="1300" b="0">
                <a:solidFill>
                  <a:srgbClr val="64748B"/>
                </a:solidFill>
                <a:latin typeface="Aptos"/>
              </a:defRPr>
            </a:pPr>
            <a:r>
              <a:t>churn / graphiques</a:t>
            </a:r>
          </a:p>
        </p:txBody>
      </p:sp>
      <p:sp>
        <p:nvSpPr>
          <p:cNvPr id="33" name="Rounded Rectangle 32"/>
          <p:cNvSpPr/>
          <p:nvPr/>
        </p:nvSpPr>
        <p:spPr>
          <a:xfrm>
            <a:off x="685800" y="4041648"/>
            <a:ext cx="10890504" cy="1298448"/>
          </a:xfrm>
          <a:prstGeom prst="roundRect">
            <a:avLst>
              <a:gd name="adj" fmla="val 13000"/>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88136" y="4297680"/>
            <a:ext cx="2011680" cy="347472"/>
          </a:xfrm>
          <a:prstGeom prst="rect">
            <a:avLst/>
          </a:prstGeom>
          <a:noFill/>
        </p:spPr>
        <p:txBody>
          <a:bodyPr wrap="square" lIns="18288" tIns="0" rIns="18288" bIns="0" anchor="t">
            <a:spAutoFit/>
          </a:bodyPr>
          <a:lstStyle/>
          <a:p>
            <a:pPr algn="l">
              <a:spcAft>
                <a:spcPts val="0"/>
              </a:spcAft>
              <a:defRPr sz="2000" b="1">
                <a:solidFill>
                  <a:srgbClr val="006D75"/>
                </a:solidFill>
                <a:latin typeface="Aptos"/>
              </a:defRPr>
            </a:pPr>
            <a:r>
              <a:t>Pandas</a:t>
            </a:r>
          </a:p>
        </p:txBody>
      </p:sp>
      <p:sp>
        <p:nvSpPr>
          <p:cNvPr id="35" name="TextBox 34"/>
          <p:cNvSpPr txBox="1"/>
          <p:nvPr/>
        </p:nvSpPr>
        <p:spPr>
          <a:xfrm>
            <a:off x="1088136" y="4709160"/>
            <a:ext cx="2880360" cy="265176"/>
          </a:xfrm>
          <a:prstGeom prst="rect">
            <a:avLst/>
          </a:prstGeom>
          <a:noFill/>
        </p:spPr>
        <p:txBody>
          <a:bodyPr wrap="square" lIns="18288" tIns="0" rIns="18288" bIns="0" anchor="t">
            <a:spAutoFit/>
          </a:bodyPr>
          <a:lstStyle/>
          <a:p>
            <a:pPr algn="l">
              <a:spcAft>
                <a:spcPts val="0"/>
              </a:spcAft>
              <a:defRPr sz="1200" b="0">
                <a:solidFill>
                  <a:srgbClr val="26354C"/>
                </a:solidFill>
                <a:latin typeface="Aptos"/>
              </a:defRPr>
            </a:pPr>
            <a:r>
              <a:t>charger, transformer, regrouper</a:t>
            </a:r>
          </a:p>
        </p:txBody>
      </p:sp>
      <p:sp>
        <p:nvSpPr>
          <p:cNvPr id="36" name="TextBox 35"/>
          <p:cNvSpPr txBox="1"/>
          <p:nvPr/>
        </p:nvSpPr>
        <p:spPr>
          <a:xfrm>
            <a:off x="4690872" y="4297680"/>
            <a:ext cx="1828800" cy="347472"/>
          </a:xfrm>
          <a:prstGeom prst="rect">
            <a:avLst/>
          </a:prstGeom>
          <a:noFill/>
        </p:spPr>
        <p:txBody>
          <a:bodyPr wrap="square" lIns="18288" tIns="0" rIns="18288" bIns="0" anchor="t">
            <a:spAutoFit/>
          </a:bodyPr>
          <a:lstStyle/>
          <a:p>
            <a:pPr algn="l">
              <a:spcAft>
                <a:spcPts val="0"/>
              </a:spcAft>
              <a:defRPr sz="2000" b="1">
                <a:solidFill>
                  <a:srgbClr val="006D75"/>
                </a:solidFill>
                <a:latin typeface="Aptos"/>
              </a:defRPr>
            </a:pPr>
            <a:r>
              <a:t>NumPy</a:t>
            </a:r>
          </a:p>
        </p:txBody>
      </p:sp>
      <p:sp>
        <p:nvSpPr>
          <p:cNvPr id="37" name="TextBox 36"/>
          <p:cNvSpPr txBox="1"/>
          <p:nvPr/>
        </p:nvSpPr>
        <p:spPr>
          <a:xfrm>
            <a:off x="4690872" y="4709160"/>
            <a:ext cx="2331720" cy="265176"/>
          </a:xfrm>
          <a:prstGeom prst="rect">
            <a:avLst/>
          </a:prstGeom>
          <a:noFill/>
        </p:spPr>
        <p:txBody>
          <a:bodyPr wrap="square" lIns="18288" tIns="0" rIns="18288" bIns="0" anchor="t">
            <a:spAutoFit/>
          </a:bodyPr>
          <a:lstStyle/>
          <a:p>
            <a:pPr algn="l">
              <a:spcAft>
                <a:spcPts val="0"/>
              </a:spcAft>
              <a:defRPr sz="1200" b="0">
                <a:solidFill>
                  <a:srgbClr val="26354C"/>
                </a:solidFill>
                <a:latin typeface="Aptos"/>
              </a:defRPr>
            </a:pPr>
            <a:r>
              <a:t>gérer les valeurs manquantes</a:t>
            </a:r>
          </a:p>
        </p:txBody>
      </p:sp>
      <p:sp>
        <p:nvSpPr>
          <p:cNvPr id="38" name="TextBox 37"/>
          <p:cNvSpPr txBox="1"/>
          <p:nvPr/>
        </p:nvSpPr>
        <p:spPr>
          <a:xfrm>
            <a:off x="8046720" y="4297680"/>
            <a:ext cx="2514600" cy="347472"/>
          </a:xfrm>
          <a:prstGeom prst="rect">
            <a:avLst/>
          </a:prstGeom>
          <a:noFill/>
        </p:spPr>
        <p:txBody>
          <a:bodyPr wrap="square" lIns="18288" tIns="0" rIns="18288" bIns="0" anchor="t">
            <a:spAutoFit/>
          </a:bodyPr>
          <a:lstStyle/>
          <a:p>
            <a:pPr algn="l">
              <a:spcAft>
                <a:spcPts val="0"/>
              </a:spcAft>
              <a:defRPr sz="2000" b="1">
                <a:solidFill>
                  <a:srgbClr val="006D75"/>
                </a:solidFill>
                <a:latin typeface="Aptos"/>
              </a:defRPr>
            </a:pPr>
            <a:r>
              <a:t>Matplotlib</a:t>
            </a:r>
          </a:p>
        </p:txBody>
      </p:sp>
      <p:sp>
        <p:nvSpPr>
          <p:cNvPr id="39" name="TextBox 38"/>
          <p:cNvSpPr txBox="1"/>
          <p:nvPr/>
        </p:nvSpPr>
        <p:spPr>
          <a:xfrm>
            <a:off x="8046720" y="4709160"/>
            <a:ext cx="2377440" cy="265176"/>
          </a:xfrm>
          <a:prstGeom prst="rect">
            <a:avLst/>
          </a:prstGeom>
          <a:noFill/>
        </p:spPr>
        <p:txBody>
          <a:bodyPr wrap="square" lIns="18288" tIns="0" rIns="18288" bIns="0" anchor="t">
            <a:spAutoFit/>
          </a:bodyPr>
          <a:lstStyle/>
          <a:p>
            <a:pPr algn="l">
              <a:spcAft>
                <a:spcPts val="0"/>
              </a:spcAft>
              <a:defRPr sz="1200" b="0">
                <a:solidFill>
                  <a:srgbClr val="26354C"/>
                </a:solidFill>
                <a:latin typeface="Aptos"/>
              </a:defRPr>
            </a:pPr>
            <a:r>
              <a:t>visualiser les résultats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3. Les choix de nettoyage et leurs justifications</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Nous corrigeons ce qui est interprétable, sans inventer d’informations.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04</a:t>
            </a:r>
          </a:p>
        </p:txBody>
      </p:sp>
      <p:sp>
        <p:nvSpPr>
          <p:cNvPr id="10" name="Rounded Rectangle 9"/>
          <p:cNvSpPr/>
          <p:nvPr/>
        </p:nvSpPr>
        <p:spPr>
          <a:xfrm>
            <a:off x="685800" y="1856231"/>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68680" y="2066543"/>
            <a:ext cx="73152" cy="374904"/>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78992" y="2075687"/>
            <a:ext cx="4754880" cy="246888"/>
          </a:xfrm>
          <a:prstGeom prst="rect">
            <a:avLst/>
          </a:prstGeom>
          <a:noFill/>
        </p:spPr>
        <p:txBody>
          <a:bodyPr wrap="square" lIns="18288" tIns="0" rIns="18288" bIns="0" anchor="t">
            <a:spAutoFit/>
          </a:bodyPr>
          <a:lstStyle/>
          <a:p>
            <a:pPr algn="l">
              <a:spcAft>
                <a:spcPts val="0"/>
              </a:spcAft>
              <a:defRPr sz="1300" b="1">
                <a:solidFill>
                  <a:srgbClr val="008E95"/>
                </a:solidFill>
                <a:latin typeface="Aptos"/>
              </a:defRPr>
            </a:pPr>
            <a:r>
              <a:t>01  DOUBLONS</a:t>
            </a:r>
          </a:p>
        </p:txBody>
      </p:sp>
      <p:sp>
        <p:nvSpPr>
          <p:cNvPr id="13" name="TextBox 12"/>
          <p:cNvSpPr txBox="1"/>
          <p:nvPr/>
        </p:nvSpPr>
        <p:spPr>
          <a:xfrm>
            <a:off x="1078992" y="2450591"/>
            <a:ext cx="4608576" cy="58521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Supprimer uniquement les 250 lignes entièrement identiques.</a:t>
            </a:r>
          </a:p>
        </p:txBody>
      </p:sp>
      <p:sp>
        <p:nvSpPr>
          <p:cNvPr id="14" name="TextBox 13"/>
          <p:cNvSpPr txBox="1"/>
          <p:nvPr/>
        </p:nvSpPr>
        <p:spPr>
          <a:xfrm>
            <a:off x="1069848" y="3218687"/>
            <a:ext cx="4754880" cy="192024"/>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drop_duplicates()</a:t>
            </a:r>
          </a:p>
        </p:txBody>
      </p:sp>
      <p:sp>
        <p:nvSpPr>
          <p:cNvPr id="15" name="Rounded Rectangle 14"/>
          <p:cNvSpPr/>
          <p:nvPr/>
        </p:nvSpPr>
        <p:spPr>
          <a:xfrm>
            <a:off x="6291072" y="1856231"/>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73952" y="2066543"/>
            <a:ext cx="73152" cy="374904"/>
          </a:xfrm>
          <a:prstGeom prst="rect">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84264" y="2075687"/>
            <a:ext cx="4754880" cy="246888"/>
          </a:xfrm>
          <a:prstGeom prst="rect">
            <a:avLst/>
          </a:prstGeom>
          <a:noFill/>
        </p:spPr>
        <p:txBody>
          <a:bodyPr wrap="square" lIns="18288" tIns="0" rIns="18288" bIns="0" anchor="t">
            <a:spAutoFit/>
          </a:bodyPr>
          <a:lstStyle/>
          <a:p>
            <a:pPr algn="l">
              <a:spcAft>
                <a:spcPts val="0"/>
              </a:spcAft>
              <a:defRPr sz="1300" b="1">
                <a:solidFill>
                  <a:srgbClr val="3174B5"/>
                </a:solidFill>
                <a:latin typeface="Aptos"/>
              </a:defRPr>
            </a:pPr>
            <a:r>
              <a:t>02  CATÉGORIES</a:t>
            </a:r>
          </a:p>
        </p:txBody>
      </p:sp>
      <p:sp>
        <p:nvSpPr>
          <p:cNvPr id="18" name="TextBox 17"/>
          <p:cNvSpPr txBox="1"/>
          <p:nvPr/>
        </p:nvSpPr>
        <p:spPr>
          <a:xfrm>
            <a:off x="6684264" y="2450591"/>
            <a:ext cx="4608576" cy="58521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Uniformiser les synonymes évidents, sans fusionner les formules incertaines.</a:t>
            </a:r>
          </a:p>
        </p:txBody>
      </p:sp>
      <p:sp>
        <p:nvSpPr>
          <p:cNvPr id="19" name="TextBox 18"/>
          <p:cNvSpPr txBox="1"/>
          <p:nvPr/>
        </p:nvSpPr>
        <p:spPr>
          <a:xfrm>
            <a:off x="6675120" y="3218687"/>
            <a:ext cx="4754880" cy="192024"/>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strip() · lower() · replace()</a:t>
            </a:r>
          </a:p>
        </p:txBody>
      </p:sp>
      <p:sp>
        <p:nvSpPr>
          <p:cNvPr id="20" name="Rounded Rectangle 19"/>
          <p:cNvSpPr/>
          <p:nvPr/>
        </p:nvSpPr>
        <p:spPr>
          <a:xfrm>
            <a:off x="685800" y="3749039"/>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68680" y="3959352"/>
            <a:ext cx="73152" cy="374904"/>
          </a:xfrm>
          <a:prstGeom prst="rect">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968496"/>
            <a:ext cx="4754880" cy="246888"/>
          </a:xfrm>
          <a:prstGeom prst="rect">
            <a:avLst/>
          </a:prstGeom>
          <a:noFill/>
        </p:spPr>
        <p:txBody>
          <a:bodyPr wrap="square" lIns="18288" tIns="0" rIns="18288" bIns="0" anchor="t">
            <a:spAutoFit/>
          </a:bodyPr>
          <a:lstStyle/>
          <a:p>
            <a:pPr algn="l">
              <a:spcAft>
                <a:spcPts val="0"/>
              </a:spcAft>
              <a:defRPr sz="1300" b="1">
                <a:solidFill>
                  <a:srgbClr val="3174B5"/>
                </a:solidFill>
                <a:latin typeface="Aptos"/>
              </a:defRPr>
            </a:pPr>
            <a:r>
              <a:t>03  NOMBRES ET DATES</a:t>
            </a:r>
          </a:p>
        </p:txBody>
      </p:sp>
      <p:sp>
        <p:nvSpPr>
          <p:cNvPr id="23" name="TextBox 22"/>
          <p:cNvSpPr txBox="1"/>
          <p:nvPr/>
        </p:nvSpPr>
        <p:spPr>
          <a:xfrm>
            <a:off x="1078992" y="4343400"/>
            <a:ext cx="4608576" cy="58521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Convertir les unités connues. Une valeur impossible devient NaN ou NaT.</a:t>
            </a:r>
          </a:p>
        </p:txBody>
      </p:sp>
      <p:sp>
        <p:nvSpPr>
          <p:cNvPr id="24" name="TextBox 23"/>
          <p:cNvSpPr txBox="1"/>
          <p:nvPr/>
        </p:nvSpPr>
        <p:spPr>
          <a:xfrm>
            <a:off x="1069848" y="5111496"/>
            <a:ext cx="4754880" cy="192024"/>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to_numeric() · to_datetime()</a:t>
            </a:r>
          </a:p>
        </p:txBody>
      </p:sp>
      <p:sp>
        <p:nvSpPr>
          <p:cNvPr id="25" name="Rounded Rectangle 24"/>
          <p:cNvSpPr/>
          <p:nvPr/>
        </p:nvSpPr>
        <p:spPr>
          <a:xfrm>
            <a:off x="6291072" y="3749039"/>
            <a:ext cx="5376672" cy="172821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73952" y="3959352"/>
            <a:ext cx="73152" cy="374904"/>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84264" y="3968496"/>
            <a:ext cx="4754880" cy="246888"/>
          </a:xfrm>
          <a:prstGeom prst="rect">
            <a:avLst/>
          </a:prstGeom>
          <a:noFill/>
        </p:spPr>
        <p:txBody>
          <a:bodyPr wrap="square" lIns="18288" tIns="0" rIns="18288" bIns="0" anchor="t">
            <a:spAutoFit/>
          </a:bodyPr>
          <a:lstStyle/>
          <a:p>
            <a:pPr algn="l">
              <a:spcAft>
                <a:spcPts val="0"/>
              </a:spcAft>
              <a:defRPr sz="1300" b="1">
                <a:solidFill>
                  <a:srgbClr val="008E95"/>
                </a:solidFill>
                <a:latin typeface="Aptos"/>
              </a:defRPr>
            </a:pPr>
            <a:r>
              <a:t>04  EXTRÊMES ET DONNÉES PERSO</a:t>
            </a:r>
          </a:p>
        </p:txBody>
      </p:sp>
      <p:sp>
        <p:nvSpPr>
          <p:cNvPr id="28" name="TextBox 27"/>
          <p:cNvSpPr txBox="1"/>
          <p:nvPr/>
        </p:nvSpPr>
        <p:spPr>
          <a:xfrm>
            <a:off x="6684264" y="4343400"/>
            <a:ext cx="4608576" cy="58521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Garder les valeurs rares plausibles ; retirer noms, emails et ID du CSV final.</a:t>
            </a:r>
          </a:p>
        </p:txBody>
      </p:sp>
      <p:sp>
        <p:nvSpPr>
          <p:cNvPr id="29" name="TextBox 28"/>
          <p:cNvSpPr txBox="1"/>
          <p:nvPr/>
        </p:nvSpPr>
        <p:spPr>
          <a:xfrm>
            <a:off x="6675120" y="5111496"/>
            <a:ext cx="4754880" cy="192024"/>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mask() · drop(columns=...)</a:t>
            </a:r>
          </a:p>
        </p:txBody>
      </p:sp>
      <p:sp>
        <p:nvSpPr>
          <p:cNvPr id="30" name="Rounded Rectangle 29"/>
          <p:cNvSpPr/>
          <p:nvPr/>
        </p:nvSpPr>
        <p:spPr>
          <a:xfrm>
            <a:off x="685800" y="5779008"/>
            <a:ext cx="10917936" cy="329184"/>
          </a:xfrm>
          <a:prstGeom prst="roundRect">
            <a:avLst>
              <a:gd name="adj" fmla="val 15000"/>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5843016"/>
            <a:ext cx="10469880" cy="182880"/>
          </a:xfrm>
          <a:prstGeom prst="rect">
            <a:avLst/>
          </a:prstGeom>
          <a:noFill/>
        </p:spPr>
        <p:txBody>
          <a:bodyPr wrap="square" lIns="18288" tIns="0" rIns="18288" bIns="0" anchor="t">
            <a:spAutoFit/>
          </a:bodyPr>
          <a:lstStyle/>
          <a:p>
            <a:pPr algn="l">
              <a:spcAft>
                <a:spcPts val="0"/>
              </a:spcAft>
              <a:defRPr sz="1200" b="1">
                <a:solidFill>
                  <a:srgbClr val="006D75"/>
                </a:solidFill>
                <a:latin typeface="Aptos"/>
              </a:defRPr>
            </a:pPr>
            <a:r>
              <a:t>Principe : une donnée manquante identifiée est parfois préférable à une valeur incorrecte.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4. Quel est l’effet réel du nettoyage ?</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La qualité se mesure : les chiffres avant / après portent sur les mêmes 9 750 lignes.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05</a:t>
            </a:r>
          </a:p>
        </p:txBody>
      </p:sp>
      <p:sp>
        <p:nvSpPr>
          <p:cNvPr id="10" name="Rounded Rectangle 9"/>
          <p:cNvSpPr/>
          <p:nvPr/>
        </p:nvSpPr>
        <p:spPr>
          <a:xfrm>
            <a:off x="676656" y="1819656"/>
            <a:ext cx="2944368" cy="361188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2093976"/>
            <a:ext cx="2331720" cy="256032"/>
          </a:xfrm>
          <a:prstGeom prst="rect">
            <a:avLst/>
          </a:prstGeom>
          <a:noFill/>
        </p:spPr>
        <p:txBody>
          <a:bodyPr wrap="square" lIns="18288" tIns="0" rIns="18288" bIns="0" anchor="t">
            <a:spAutoFit/>
          </a:bodyPr>
          <a:lstStyle/>
          <a:p>
            <a:pPr algn="l">
              <a:spcAft>
                <a:spcPts val="0"/>
              </a:spcAft>
              <a:defRPr sz="1200" b="1">
                <a:solidFill>
                  <a:srgbClr val="008E95"/>
                </a:solidFill>
                <a:latin typeface="Aptos"/>
              </a:defRPr>
            </a:pPr>
            <a:r>
              <a:t>VOLUME FINAL</a:t>
            </a:r>
          </a:p>
        </p:txBody>
      </p:sp>
      <p:sp>
        <p:nvSpPr>
          <p:cNvPr id="12" name="TextBox 11"/>
          <p:cNvSpPr txBox="1"/>
          <p:nvPr/>
        </p:nvSpPr>
        <p:spPr>
          <a:xfrm>
            <a:off x="914400" y="2606040"/>
            <a:ext cx="2395728" cy="566928"/>
          </a:xfrm>
          <a:prstGeom prst="rect">
            <a:avLst/>
          </a:prstGeom>
          <a:noFill/>
        </p:spPr>
        <p:txBody>
          <a:bodyPr wrap="square" lIns="18288" tIns="0" rIns="18288" bIns="0" anchor="t">
            <a:spAutoFit/>
          </a:bodyPr>
          <a:lstStyle/>
          <a:p>
            <a:pPr algn="l">
              <a:spcAft>
                <a:spcPts val="0"/>
              </a:spcAft>
              <a:defRPr sz="3400" b="1">
                <a:solidFill>
                  <a:srgbClr val="19263E"/>
                </a:solidFill>
                <a:latin typeface="Aptos"/>
              </a:defRPr>
            </a:pPr>
            <a:r>
              <a:t>9 750</a:t>
            </a:r>
          </a:p>
        </p:txBody>
      </p:sp>
      <p:sp>
        <p:nvSpPr>
          <p:cNvPr id="13" name="TextBox 12"/>
          <p:cNvSpPr txBox="1"/>
          <p:nvPr/>
        </p:nvSpPr>
        <p:spPr>
          <a:xfrm>
            <a:off x="950976" y="3218688"/>
            <a:ext cx="2331720" cy="283464"/>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lignes conservées</a:t>
            </a:r>
          </a:p>
        </p:txBody>
      </p:sp>
      <p:cxnSp>
        <p:nvCxnSpPr>
          <p:cNvPr id="14" name="Connector 13"/>
          <p:cNvCxnSpPr/>
          <p:nvPr/>
        </p:nvCxnSpPr>
        <p:spPr>
          <a:xfrm>
            <a:off x="950976" y="3858768"/>
            <a:ext cx="2404872" cy="0"/>
          </a:xfrm>
          <a:prstGeom prst="line">
            <a:avLst/>
          </a:prstGeom>
          <a:ln w="19050">
            <a:solidFill>
              <a:srgbClr val="DFE6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50976" y="4142232"/>
            <a:ext cx="2377440" cy="329184"/>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16 colonnes</a:t>
            </a:r>
          </a:p>
        </p:txBody>
      </p:sp>
      <p:sp>
        <p:nvSpPr>
          <p:cNvPr id="16" name="TextBox 15"/>
          <p:cNvSpPr txBox="1"/>
          <p:nvPr/>
        </p:nvSpPr>
        <p:spPr>
          <a:xfrm>
            <a:off x="950976" y="4517136"/>
            <a:ext cx="2286000" cy="274320"/>
          </a:xfrm>
          <a:prstGeom prst="rect">
            <a:avLst/>
          </a:prstGeom>
          <a:noFill/>
        </p:spPr>
        <p:txBody>
          <a:bodyPr wrap="square" lIns="18288" tIns="0" rIns="18288" bIns="0" anchor="t">
            <a:spAutoFit/>
          </a:bodyPr>
          <a:lstStyle/>
          <a:p>
            <a:pPr algn="l">
              <a:spcAft>
                <a:spcPts val="0"/>
              </a:spcAft>
              <a:defRPr sz="1200" b="0">
                <a:solidFill>
                  <a:srgbClr val="64748B"/>
                </a:solidFill>
                <a:latin typeface="Aptos"/>
              </a:defRPr>
            </a:pPr>
            <a:r>
              <a:t>contre 19 au départ</a:t>
            </a:r>
          </a:p>
        </p:txBody>
      </p:sp>
      <p:sp>
        <p:nvSpPr>
          <p:cNvPr id="17" name="Rounded Rectangle 16"/>
          <p:cNvSpPr/>
          <p:nvPr/>
        </p:nvSpPr>
        <p:spPr>
          <a:xfrm>
            <a:off x="3813048" y="1819656"/>
            <a:ext cx="7754112" cy="3611880"/>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51376" y="2075688"/>
            <a:ext cx="6309360" cy="292608"/>
          </a:xfrm>
          <a:prstGeom prst="rect">
            <a:avLst/>
          </a:prstGeom>
          <a:noFill/>
        </p:spPr>
        <p:txBody>
          <a:bodyPr wrap="square" lIns="18288" tIns="0" rIns="18288" bIns="0" anchor="t">
            <a:spAutoFit/>
          </a:bodyPr>
          <a:lstStyle/>
          <a:p>
            <a:pPr algn="l">
              <a:spcAft>
                <a:spcPts val="0"/>
              </a:spcAft>
              <a:defRPr sz="1800" b="1">
                <a:solidFill>
                  <a:srgbClr val="19263E"/>
                </a:solidFill>
                <a:latin typeface="Aptos"/>
              </a:defRPr>
            </a:pPr>
            <a:r>
              <a:t>Valeurs convertibles</a:t>
            </a:r>
          </a:p>
        </p:txBody>
      </p:sp>
      <p:sp>
        <p:nvSpPr>
          <p:cNvPr id="19" name="TextBox 18"/>
          <p:cNvSpPr txBox="1"/>
          <p:nvPr/>
        </p:nvSpPr>
        <p:spPr>
          <a:xfrm>
            <a:off x="4151376" y="2660904"/>
            <a:ext cx="2926080" cy="274320"/>
          </a:xfrm>
          <a:prstGeom prst="rect">
            <a:avLst/>
          </a:prstGeom>
          <a:noFill/>
        </p:spPr>
        <p:txBody>
          <a:bodyPr wrap="square" lIns="18288" tIns="0" rIns="18288" bIns="0" anchor="t">
            <a:spAutoFit/>
          </a:bodyPr>
          <a:lstStyle/>
          <a:p>
            <a:pPr algn="l">
              <a:spcAft>
                <a:spcPts val="0"/>
              </a:spcAft>
              <a:defRPr sz="1400" b="1">
                <a:solidFill>
                  <a:srgbClr val="26354C"/>
                </a:solidFill>
                <a:latin typeface="Aptos"/>
              </a:defRPr>
            </a:pPr>
            <a:r>
              <a:t>Dates d’inscription</a:t>
            </a:r>
          </a:p>
        </p:txBody>
      </p:sp>
      <p:sp>
        <p:nvSpPr>
          <p:cNvPr id="20" name="TextBox 19"/>
          <p:cNvSpPr txBox="1"/>
          <p:nvPr/>
        </p:nvSpPr>
        <p:spPr>
          <a:xfrm>
            <a:off x="6739128" y="2660904"/>
            <a:ext cx="841248" cy="256032"/>
          </a:xfrm>
          <a:prstGeom prst="rect">
            <a:avLst/>
          </a:prstGeom>
          <a:noFill/>
        </p:spPr>
        <p:txBody>
          <a:bodyPr wrap="square" lIns="18288" tIns="0" rIns="18288" bIns="0" anchor="t">
            <a:spAutoFit/>
          </a:bodyPr>
          <a:lstStyle/>
          <a:p>
            <a:pPr algn="l">
              <a:spcAft>
                <a:spcPts val="0"/>
              </a:spcAft>
              <a:defRPr sz="1200" b="0">
                <a:solidFill>
                  <a:srgbClr val="64748B"/>
                </a:solidFill>
                <a:latin typeface="Aptos"/>
              </a:defRPr>
            </a:pPr>
            <a:r>
              <a:t>91.98 %</a:t>
            </a:r>
          </a:p>
        </p:txBody>
      </p:sp>
      <p:sp>
        <p:nvSpPr>
          <p:cNvPr id="21" name="TextBox 20"/>
          <p:cNvSpPr txBox="1"/>
          <p:nvPr/>
        </p:nvSpPr>
        <p:spPr>
          <a:xfrm>
            <a:off x="7635240" y="2660904"/>
            <a:ext cx="274320" cy="274320"/>
          </a:xfrm>
          <a:prstGeom prst="rect">
            <a:avLst/>
          </a:prstGeom>
          <a:noFill/>
        </p:spPr>
        <p:txBody>
          <a:bodyPr wrap="square" lIns="18288" tIns="0" rIns="18288" bIns="0" anchor="t">
            <a:spAutoFit/>
          </a:bodyPr>
          <a:lstStyle/>
          <a:p>
            <a:pPr algn="l">
              <a:spcAft>
                <a:spcPts val="0"/>
              </a:spcAft>
              <a:defRPr sz="1500" b="1">
                <a:solidFill>
                  <a:srgbClr val="008E95"/>
                </a:solidFill>
                <a:latin typeface="Aptos"/>
              </a:defRPr>
            </a:pPr>
            <a:r>
              <a:t>→</a:t>
            </a:r>
          </a:p>
        </p:txBody>
      </p:sp>
      <p:sp>
        <p:nvSpPr>
          <p:cNvPr id="22" name="TextBox 21"/>
          <p:cNvSpPr txBox="1"/>
          <p:nvPr/>
        </p:nvSpPr>
        <p:spPr>
          <a:xfrm>
            <a:off x="8019288" y="2660904"/>
            <a:ext cx="1042415" cy="274320"/>
          </a:xfrm>
          <a:prstGeom prst="rect">
            <a:avLst/>
          </a:prstGeom>
          <a:noFill/>
        </p:spPr>
        <p:txBody>
          <a:bodyPr wrap="square" lIns="18288" tIns="0" rIns="18288" bIns="0" anchor="t">
            <a:spAutoFit/>
          </a:bodyPr>
          <a:lstStyle/>
          <a:p>
            <a:pPr algn="l">
              <a:spcAft>
                <a:spcPts val="0"/>
              </a:spcAft>
              <a:defRPr sz="1500" b="1">
                <a:solidFill>
                  <a:srgbClr val="008E95"/>
                </a:solidFill>
                <a:latin typeface="Aptos"/>
              </a:defRPr>
            </a:pPr>
            <a:r>
              <a:t>99.41 %</a:t>
            </a:r>
          </a:p>
        </p:txBody>
      </p:sp>
      <p:sp>
        <p:nvSpPr>
          <p:cNvPr id="23" name="Rounded Rectangle 22"/>
          <p:cNvSpPr/>
          <p:nvPr/>
        </p:nvSpPr>
        <p:spPr>
          <a:xfrm>
            <a:off x="4151376" y="306324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151376" y="3063240"/>
            <a:ext cx="6181828" cy="19202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151376" y="306324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151376" y="3063240"/>
            <a:ext cx="6681187" cy="192024"/>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51376" y="3712464"/>
            <a:ext cx="2926080" cy="274320"/>
          </a:xfrm>
          <a:prstGeom prst="rect">
            <a:avLst/>
          </a:prstGeom>
          <a:noFill/>
        </p:spPr>
        <p:txBody>
          <a:bodyPr wrap="square" lIns="18288" tIns="0" rIns="18288" bIns="0" anchor="t">
            <a:spAutoFit/>
          </a:bodyPr>
          <a:lstStyle/>
          <a:p>
            <a:pPr algn="l">
              <a:spcAft>
                <a:spcPts val="0"/>
              </a:spcAft>
              <a:defRPr sz="1400" b="1">
                <a:solidFill>
                  <a:srgbClr val="26354C"/>
                </a:solidFill>
                <a:latin typeface="Aptos"/>
              </a:defRPr>
            </a:pPr>
            <a:r>
              <a:t>Revenu annuel</a:t>
            </a:r>
          </a:p>
        </p:txBody>
      </p:sp>
      <p:sp>
        <p:nvSpPr>
          <p:cNvPr id="28" name="TextBox 27"/>
          <p:cNvSpPr txBox="1"/>
          <p:nvPr/>
        </p:nvSpPr>
        <p:spPr>
          <a:xfrm>
            <a:off x="6739128" y="3712464"/>
            <a:ext cx="841248" cy="256032"/>
          </a:xfrm>
          <a:prstGeom prst="rect">
            <a:avLst/>
          </a:prstGeom>
          <a:noFill/>
        </p:spPr>
        <p:txBody>
          <a:bodyPr wrap="square" lIns="18288" tIns="0" rIns="18288" bIns="0" anchor="t">
            <a:spAutoFit/>
          </a:bodyPr>
          <a:lstStyle/>
          <a:p>
            <a:pPr algn="l">
              <a:spcAft>
                <a:spcPts val="0"/>
              </a:spcAft>
              <a:defRPr sz="1200" b="0">
                <a:solidFill>
                  <a:srgbClr val="64748B"/>
                </a:solidFill>
                <a:latin typeface="Aptos"/>
              </a:defRPr>
            </a:pPr>
            <a:r>
              <a:t>92.96 %</a:t>
            </a:r>
          </a:p>
        </p:txBody>
      </p:sp>
      <p:sp>
        <p:nvSpPr>
          <p:cNvPr id="29" name="TextBox 28"/>
          <p:cNvSpPr txBox="1"/>
          <p:nvPr/>
        </p:nvSpPr>
        <p:spPr>
          <a:xfrm>
            <a:off x="7635240" y="3712464"/>
            <a:ext cx="274320" cy="274320"/>
          </a:xfrm>
          <a:prstGeom prst="rect">
            <a:avLst/>
          </a:prstGeom>
          <a:noFill/>
        </p:spPr>
        <p:txBody>
          <a:bodyPr wrap="square" lIns="18288" tIns="0" rIns="18288" bIns="0" anchor="t">
            <a:spAutoFit/>
          </a:bodyPr>
          <a:lstStyle/>
          <a:p>
            <a:pPr algn="l">
              <a:spcAft>
                <a:spcPts val="0"/>
              </a:spcAft>
              <a:defRPr sz="1500" b="1">
                <a:solidFill>
                  <a:srgbClr val="008E95"/>
                </a:solidFill>
                <a:latin typeface="Aptos"/>
              </a:defRPr>
            </a:pPr>
            <a:r>
              <a:t>→</a:t>
            </a:r>
          </a:p>
        </p:txBody>
      </p:sp>
      <p:sp>
        <p:nvSpPr>
          <p:cNvPr id="30" name="TextBox 29"/>
          <p:cNvSpPr txBox="1"/>
          <p:nvPr/>
        </p:nvSpPr>
        <p:spPr>
          <a:xfrm>
            <a:off x="8019288" y="3712464"/>
            <a:ext cx="1042415" cy="274320"/>
          </a:xfrm>
          <a:prstGeom prst="rect">
            <a:avLst/>
          </a:prstGeom>
          <a:noFill/>
        </p:spPr>
        <p:txBody>
          <a:bodyPr wrap="square" lIns="18288" tIns="0" rIns="18288" bIns="0" anchor="t">
            <a:spAutoFit/>
          </a:bodyPr>
          <a:lstStyle/>
          <a:p>
            <a:pPr algn="l">
              <a:spcAft>
                <a:spcPts val="0"/>
              </a:spcAft>
              <a:defRPr sz="1500" b="1">
                <a:solidFill>
                  <a:srgbClr val="008E95"/>
                </a:solidFill>
                <a:latin typeface="Aptos"/>
              </a:defRPr>
            </a:pPr>
            <a:r>
              <a:t>96.39 %</a:t>
            </a:r>
          </a:p>
        </p:txBody>
      </p:sp>
      <p:sp>
        <p:nvSpPr>
          <p:cNvPr id="31" name="Rounded Rectangle 30"/>
          <p:cNvSpPr/>
          <p:nvPr/>
        </p:nvSpPr>
        <p:spPr>
          <a:xfrm>
            <a:off x="4151376" y="411480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151376" y="4114800"/>
            <a:ext cx="6247692" cy="19202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151376" y="4114800"/>
            <a:ext cx="6720840" cy="192024"/>
          </a:xfrm>
          <a:prstGeom prst="roundRect">
            <a:avLst>
              <a:gd name="adj" fmla="val 15000"/>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151376" y="4114800"/>
            <a:ext cx="6478217" cy="192024"/>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76656" y="5660136"/>
            <a:ext cx="10890504" cy="393192"/>
          </a:xfrm>
          <a:prstGeom prst="roundRect">
            <a:avLst>
              <a:gd name="adj" fmla="val 15000"/>
            </a:avLst>
          </a:prstGeom>
          <a:solidFill>
            <a:srgbClr val="ED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6112" y="5751576"/>
            <a:ext cx="10442448" cy="201168"/>
          </a:xfrm>
          <a:prstGeom prst="rect">
            <a:avLst/>
          </a:prstGeom>
          <a:noFill/>
        </p:spPr>
        <p:txBody>
          <a:bodyPr wrap="square" lIns="18288" tIns="0" rIns="18288" bIns="0" anchor="t">
            <a:spAutoFit/>
          </a:bodyPr>
          <a:lstStyle/>
          <a:p>
            <a:pPr algn="l">
              <a:spcAft>
                <a:spcPts val="0"/>
              </a:spcAft>
              <a:defRPr sz="1100" b="0">
                <a:solidFill>
                  <a:srgbClr val="26354C"/>
                </a:solidFill>
                <a:latin typeface="Aptos"/>
              </a:defRPr>
            </a:pPr>
            <a:r>
              <a:t>Attention : « convertible » ne signifie pas « vérifié comme exact » ; 133 anomalies numériques ont été invalidées.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5. Premier résultat métier : le churn selon la formule</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Churn = part des clients observés comme résiliés (variable churned = 1).</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06</a:t>
            </a:r>
          </a:p>
        </p:txBody>
      </p:sp>
      <p:sp>
        <p:nvSpPr>
          <p:cNvPr id="10" name="Rounded Rectangle 9"/>
          <p:cNvSpPr/>
          <p:nvPr/>
        </p:nvSpPr>
        <p:spPr>
          <a:xfrm>
            <a:off x="676656" y="1874519"/>
            <a:ext cx="2926080" cy="3602736"/>
          </a:xfrm>
          <a:prstGeom prst="roundRect">
            <a:avLst>
              <a:gd name="adj" fmla="val 13000"/>
            </a:avLst>
          </a:prstGeom>
          <a:solidFill>
            <a:srgbClr val="19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167128"/>
            <a:ext cx="2276856" cy="310896"/>
          </a:xfrm>
          <a:prstGeom prst="rect">
            <a:avLst/>
          </a:prstGeom>
          <a:noFill/>
        </p:spPr>
        <p:txBody>
          <a:bodyPr wrap="square" lIns="18288" tIns="0" rIns="18288" bIns="0" anchor="t">
            <a:spAutoFit/>
          </a:bodyPr>
          <a:lstStyle/>
          <a:p>
            <a:pPr algn="l">
              <a:spcAft>
                <a:spcPts val="0"/>
              </a:spcAft>
              <a:defRPr sz="1300" b="1">
                <a:solidFill>
                  <a:srgbClr val="BEEDE6"/>
                </a:solidFill>
                <a:latin typeface="Aptos"/>
              </a:defRPr>
            </a:pPr>
            <a:r>
              <a:t>CHURN GLOBAL</a:t>
            </a:r>
          </a:p>
        </p:txBody>
      </p:sp>
      <p:sp>
        <p:nvSpPr>
          <p:cNvPr id="12" name="TextBox 11"/>
          <p:cNvSpPr txBox="1"/>
          <p:nvPr/>
        </p:nvSpPr>
        <p:spPr>
          <a:xfrm>
            <a:off x="960120" y="2807208"/>
            <a:ext cx="2468880" cy="640080"/>
          </a:xfrm>
          <a:prstGeom prst="rect">
            <a:avLst/>
          </a:prstGeom>
          <a:noFill/>
        </p:spPr>
        <p:txBody>
          <a:bodyPr wrap="square" lIns="18288" tIns="0" rIns="18288" bIns="0" anchor="t">
            <a:spAutoFit/>
          </a:bodyPr>
          <a:lstStyle/>
          <a:p>
            <a:pPr algn="l">
              <a:spcAft>
                <a:spcPts val="0"/>
              </a:spcAft>
              <a:defRPr sz="3500" b="1">
                <a:solidFill>
                  <a:srgbClr val="FFFFFF"/>
                </a:solidFill>
                <a:latin typeface="Aptos"/>
              </a:defRPr>
            </a:pPr>
            <a:r>
              <a:t>13,79 %</a:t>
            </a:r>
          </a:p>
        </p:txBody>
      </p:sp>
      <p:sp>
        <p:nvSpPr>
          <p:cNvPr id="13" name="TextBox 12"/>
          <p:cNvSpPr txBox="1"/>
          <p:nvPr/>
        </p:nvSpPr>
        <p:spPr>
          <a:xfrm>
            <a:off x="960120" y="3749039"/>
            <a:ext cx="2331720" cy="813816"/>
          </a:xfrm>
          <a:prstGeom prst="rect">
            <a:avLst/>
          </a:prstGeom>
          <a:noFill/>
        </p:spPr>
        <p:txBody>
          <a:bodyPr wrap="square" lIns="18288" tIns="0" rIns="18288" bIns="0" anchor="t">
            <a:spAutoFit/>
          </a:bodyPr>
          <a:lstStyle/>
          <a:p>
            <a:pPr algn="l">
              <a:spcAft>
                <a:spcPts val="0"/>
              </a:spcAft>
              <a:defRPr sz="1500" b="0">
                <a:solidFill>
                  <a:srgbClr val="D6DFEA"/>
                </a:solidFill>
                <a:latin typeface="Aptos"/>
              </a:defRPr>
            </a:pPr>
            <a:r>
              <a:t>des clients avec un statut</a:t>
            </a:r>
          </a:p>
          <a:p>
            <a:pPr algn="l">
              <a:spcAft>
                <a:spcPts val="0"/>
              </a:spcAft>
              <a:defRPr sz="1500" b="0">
                <a:solidFill>
                  <a:srgbClr val="D6DFEA"/>
                </a:solidFill>
                <a:latin typeface="Aptos"/>
              </a:defRPr>
            </a:pPr>
            <a:r>
              <a:t>de résiliation connu</a:t>
            </a:r>
          </a:p>
        </p:txBody>
      </p:sp>
      <p:sp>
        <p:nvSpPr>
          <p:cNvPr id="14" name="Rounded Rectangle 13"/>
          <p:cNvSpPr/>
          <p:nvPr/>
        </p:nvSpPr>
        <p:spPr>
          <a:xfrm>
            <a:off x="3794760" y="1874519"/>
            <a:ext cx="7772400" cy="3602736"/>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23944" y="2414016"/>
            <a:ext cx="1508760" cy="283464"/>
          </a:xfrm>
          <a:prstGeom prst="rect">
            <a:avLst/>
          </a:prstGeom>
          <a:noFill/>
        </p:spPr>
        <p:txBody>
          <a:bodyPr wrap="square" lIns="18288" tIns="0" rIns="18288" bIns="0" anchor="t">
            <a:spAutoFit/>
          </a:bodyPr>
          <a:lstStyle/>
          <a:p>
            <a:pPr algn="l">
              <a:spcAft>
                <a:spcPts val="0"/>
              </a:spcAft>
              <a:defRPr sz="1500" b="1">
                <a:solidFill>
                  <a:srgbClr val="19263E"/>
                </a:solidFill>
                <a:latin typeface="Aptos"/>
              </a:defRPr>
            </a:pPr>
            <a:r>
              <a:t>Basic</a:t>
            </a:r>
          </a:p>
        </p:txBody>
      </p:sp>
      <p:sp>
        <p:nvSpPr>
          <p:cNvPr id="16" name="TextBox 15"/>
          <p:cNvSpPr txBox="1"/>
          <p:nvPr/>
        </p:nvSpPr>
        <p:spPr>
          <a:xfrm>
            <a:off x="4123944" y="2734056"/>
            <a:ext cx="1188720" cy="219456"/>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n = 4 020</a:t>
            </a:r>
          </a:p>
        </p:txBody>
      </p:sp>
      <p:sp>
        <p:nvSpPr>
          <p:cNvPr id="17" name="Rounded Rectangle 16"/>
          <p:cNvSpPr/>
          <p:nvPr/>
        </p:nvSpPr>
        <p:spPr>
          <a:xfrm>
            <a:off x="5879592" y="2542032"/>
            <a:ext cx="4297680" cy="246888"/>
          </a:xfrm>
          <a:prstGeom prst="roundRect">
            <a:avLst>
              <a:gd name="adj" fmla="val 15000"/>
            </a:avLst>
          </a:prstGeom>
          <a:solidFill>
            <a:srgbClr val="ED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879592" y="2542032"/>
            <a:ext cx="3944315" cy="246888"/>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305288" y="2496312"/>
            <a:ext cx="1014984" cy="329184"/>
          </a:xfrm>
          <a:prstGeom prst="rect">
            <a:avLst/>
          </a:prstGeom>
          <a:noFill/>
        </p:spPr>
        <p:txBody>
          <a:bodyPr wrap="square" lIns="18288" tIns="0" rIns="18288" bIns="0" anchor="t">
            <a:spAutoFit/>
          </a:bodyPr>
          <a:lstStyle/>
          <a:p>
            <a:pPr algn="r">
              <a:spcAft>
                <a:spcPts val="0"/>
              </a:spcAft>
              <a:defRPr sz="1600" b="1">
                <a:solidFill>
                  <a:srgbClr val="008E95"/>
                </a:solidFill>
                <a:latin typeface="Aptos"/>
              </a:defRPr>
            </a:pPr>
            <a:r>
              <a:t>16.52 %</a:t>
            </a:r>
          </a:p>
        </p:txBody>
      </p:sp>
      <p:sp>
        <p:nvSpPr>
          <p:cNvPr id="20" name="TextBox 19"/>
          <p:cNvSpPr txBox="1"/>
          <p:nvPr/>
        </p:nvSpPr>
        <p:spPr>
          <a:xfrm>
            <a:off x="4123944" y="3264408"/>
            <a:ext cx="1508760" cy="283464"/>
          </a:xfrm>
          <a:prstGeom prst="rect">
            <a:avLst/>
          </a:prstGeom>
          <a:noFill/>
        </p:spPr>
        <p:txBody>
          <a:bodyPr wrap="square" lIns="18288" tIns="0" rIns="18288" bIns="0" anchor="t">
            <a:spAutoFit/>
          </a:bodyPr>
          <a:lstStyle/>
          <a:p>
            <a:pPr algn="l">
              <a:spcAft>
                <a:spcPts val="0"/>
              </a:spcAft>
              <a:defRPr sz="1500" b="1">
                <a:solidFill>
                  <a:srgbClr val="19263E"/>
                </a:solidFill>
                <a:latin typeface="Aptos"/>
              </a:defRPr>
            </a:pPr>
            <a:r>
              <a:t>Standard</a:t>
            </a:r>
          </a:p>
        </p:txBody>
      </p:sp>
      <p:sp>
        <p:nvSpPr>
          <p:cNvPr id="21" name="TextBox 20"/>
          <p:cNvSpPr txBox="1"/>
          <p:nvPr/>
        </p:nvSpPr>
        <p:spPr>
          <a:xfrm>
            <a:off x="4123944" y="3584448"/>
            <a:ext cx="1188720" cy="219456"/>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n = 3 713</a:t>
            </a:r>
          </a:p>
        </p:txBody>
      </p:sp>
      <p:sp>
        <p:nvSpPr>
          <p:cNvPr id="22" name="Rounded Rectangle 21"/>
          <p:cNvSpPr/>
          <p:nvPr/>
        </p:nvSpPr>
        <p:spPr>
          <a:xfrm>
            <a:off x="5879592" y="3392424"/>
            <a:ext cx="4297680" cy="246888"/>
          </a:xfrm>
          <a:prstGeom prst="roundRect">
            <a:avLst>
              <a:gd name="adj" fmla="val 15000"/>
            </a:avLst>
          </a:prstGeom>
          <a:solidFill>
            <a:srgbClr val="ED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879592" y="3392424"/>
            <a:ext cx="2989275" cy="246888"/>
          </a:xfrm>
          <a:prstGeom prst="roundRect">
            <a:avLst>
              <a:gd name="adj" fmla="val 15000"/>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05288" y="3346704"/>
            <a:ext cx="1014984" cy="329184"/>
          </a:xfrm>
          <a:prstGeom prst="rect">
            <a:avLst/>
          </a:prstGeom>
          <a:noFill/>
        </p:spPr>
        <p:txBody>
          <a:bodyPr wrap="square" lIns="18288" tIns="0" rIns="18288" bIns="0" anchor="t">
            <a:spAutoFit/>
          </a:bodyPr>
          <a:lstStyle/>
          <a:p>
            <a:pPr algn="r">
              <a:spcAft>
                <a:spcPts val="0"/>
              </a:spcAft>
              <a:defRPr sz="1600" b="1">
                <a:solidFill>
                  <a:srgbClr val="3174B5"/>
                </a:solidFill>
                <a:latin typeface="Aptos"/>
              </a:defRPr>
            </a:pPr>
            <a:r>
              <a:t>12.52 %</a:t>
            </a:r>
          </a:p>
        </p:txBody>
      </p:sp>
      <p:sp>
        <p:nvSpPr>
          <p:cNvPr id="25" name="TextBox 24"/>
          <p:cNvSpPr txBox="1"/>
          <p:nvPr/>
        </p:nvSpPr>
        <p:spPr>
          <a:xfrm>
            <a:off x="4123944" y="4114800"/>
            <a:ext cx="1508760" cy="283464"/>
          </a:xfrm>
          <a:prstGeom prst="rect">
            <a:avLst/>
          </a:prstGeom>
          <a:noFill/>
        </p:spPr>
        <p:txBody>
          <a:bodyPr wrap="square" lIns="18288" tIns="0" rIns="18288" bIns="0" anchor="t">
            <a:spAutoFit/>
          </a:bodyPr>
          <a:lstStyle/>
          <a:p>
            <a:pPr algn="l">
              <a:spcAft>
                <a:spcPts val="0"/>
              </a:spcAft>
              <a:defRPr sz="1500" b="1">
                <a:solidFill>
                  <a:srgbClr val="19263E"/>
                </a:solidFill>
                <a:latin typeface="Aptos"/>
              </a:defRPr>
            </a:pPr>
            <a:r>
              <a:t>Premium</a:t>
            </a:r>
          </a:p>
        </p:txBody>
      </p:sp>
      <p:sp>
        <p:nvSpPr>
          <p:cNvPr id="26" name="TextBox 25"/>
          <p:cNvSpPr txBox="1"/>
          <p:nvPr/>
        </p:nvSpPr>
        <p:spPr>
          <a:xfrm>
            <a:off x="4123944" y="4434840"/>
            <a:ext cx="1188720" cy="219456"/>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n = 1 891</a:t>
            </a:r>
          </a:p>
        </p:txBody>
      </p:sp>
      <p:sp>
        <p:nvSpPr>
          <p:cNvPr id="27" name="Rounded Rectangle 26"/>
          <p:cNvSpPr/>
          <p:nvPr/>
        </p:nvSpPr>
        <p:spPr>
          <a:xfrm>
            <a:off x="5879592" y="4242816"/>
            <a:ext cx="4297680" cy="246888"/>
          </a:xfrm>
          <a:prstGeom prst="roundRect">
            <a:avLst>
              <a:gd name="adj" fmla="val 15000"/>
            </a:avLst>
          </a:prstGeom>
          <a:solidFill>
            <a:srgbClr val="ED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879592" y="4242816"/>
            <a:ext cx="2487879" cy="246888"/>
          </a:xfrm>
          <a:prstGeom prst="roundRect">
            <a:avLst>
              <a:gd name="adj" fmla="val 15000"/>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305288" y="4197096"/>
            <a:ext cx="1014984" cy="329184"/>
          </a:xfrm>
          <a:prstGeom prst="rect">
            <a:avLst/>
          </a:prstGeom>
          <a:noFill/>
        </p:spPr>
        <p:txBody>
          <a:bodyPr wrap="square" lIns="18288" tIns="0" rIns="18288" bIns="0" anchor="t">
            <a:spAutoFit/>
          </a:bodyPr>
          <a:lstStyle/>
          <a:p>
            <a:pPr algn="r">
              <a:spcAft>
                <a:spcPts val="0"/>
              </a:spcAft>
              <a:defRPr sz="1600" b="1">
                <a:solidFill>
                  <a:srgbClr val="ED946A"/>
                </a:solidFill>
                <a:latin typeface="Aptos"/>
              </a:defRPr>
            </a:pPr>
            <a:r>
              <a:t>10.42 %</a:t>
            </a:r>
          </a:p>
        </p:txBody>
      </p:sp>
      <p:sp>
        <p:nvSpPr>
          <p:cNvPr id="30" name="Rounded Rectangle 29"/>
          <p:cNvSpPr/>
          <p:nvPr/>
        </p:nvSpPr>
        <p:spPr>
          <a:xfrm>
            <a:off x="4014215" y="4965192"/>
            <a:ext cx="7333488" cy="246888"/>
          </a:xfrm>
          <a:prstGeom prst="roundRect">
            <a:avLst>
              <a:gd name="adj" fmla="val 15000"/>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42232" y="5029200"/>
            <a:ext cx="6976872" cy="164592"/>
          </a:xfrm>
          <a:prstGeom prst="rect">
            <a:avLst/>
          </a:prstGeom>
          <a:noFill/>
        </p:spPr>
        <p:txBody>
          <a:bodyPr wrap="square" lIns="18288" tIns="0" rIns="18288" bIns="0" anchor="t">
            <a:spAutoFit/>
          </a:bodyPr>
          <a:lstStyle/>
          <a:p>
            <a:pPr algn="l">
              <a:spcAft>
                <a:spcPts val="0"/>
              </a:spcAft>
              <a:defRPr sz="1100" b="1">
                <a:solidFill>
                  <a:srgbClr val="006D75"/>
                </a:solidFill>
                <a:latin typeface="Aptos"/>
              </a:defRPr>
            </a:pPr>
            <a:r>
              <a:t>Lecture : Basic &gt; Standard &gt; Premium, mais association ≠ causalité.</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6. Deux autres constats : satisfaction et appareil</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Les graphiques suggèrent des associations, sans expliquer leurs causes.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07</a:t>
            </a:r>
          </a:p>
        </p:txBody>
      </p:sp>
      <p:sp>
        <p:nvSpPr>
          <p:cNvPr id="10" name="Rounded Rectangle 9"/>
          <p:cNvSpPr/>
          <p:nvPr/>
        </p:nvSpPr>
        <p:spPr>
          <a:xfrm>
            <a:off x="667512" y="1865376"/>
            <a:ext cx="5513832" cy="3950208"/>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2139696"/>
            <a:ext cx="4937760" cy="310896"/>
          </a:xfrm>
          <a:prstGeom prst="rect">
            <a:avLst/>
          </a:prstGeom>
          <a:noFill/>
        </p:spPr>
        <p:txBody>
          <a:bodyPr wrap="square" lIns="18288" tIns="0" rIns="18288" bIns="0" anchor="t">
            <a:spAutoFit/>
          </a:bodyPr>
          <a:lstStyle/>
          <a:p>
            <a:pPr algn="l">
              <a:spcAft>
                <a:spcPts val="0"/>
              </a:spcAft>
              <a:defRPr sz="1500" b="1">
                <a:solidFill>
                  <a:srgbClr val="008E95"/>
                </a:solidFill>
                <a:latin typeface="Aptos"/>
              </a:defRPr>
            </a:pPr>
            <a:r>
              <a:t>SATISFACTION</a:t>
            </a:r>
          </a:p>
        </p:txBody>
      </p:sp>
      <p:sp>
        <p:nvSpPr>
          <p:cNvPr id="12" name="TextBox 11"/>
          <p:cNvSpPr txBox="1"/>
          <p:nvPr/>
        </p:nvSpPr>
        <p:spPr>
          <a:xfrm>
            <a:off x="960120" y="2752344"/>
            <a:ext cx="2286000" cy="329184"/>
          </a:xfrm>
          <a:prstGeom prst="rect">
            <a:avLst/>
          </a:prstGeom>
          <a:noFill/>
        </p:spPr>
        <p:txBody>
          <a:bodyPr wrap="square" lIns="18288" tIns="0" rIns="18288" bIns="0" anchor="t">
            <a:spAutoFit/>
          </a:bodyPr>
          <a:lstStyle/>
          <a:p>
            <a:pPr algn="l">
              <a:spcAft>
                <a:spcPts val="0"/>
              </a:spcAft>
              <a:defRPr sz="1600" b="1">
                <a:solidFill>
                  <a:srgbClr val="19263E"/>
                </a:solidFill>
                <a:latin typeface="Aptos"/>
              </a:defRPr>
            </a:pPr>
            <a:r>
              <a:t>Score 5 / 10</a:t>
            </a:r>
          </a:p>
        </p:txBody>
      </p:sp>
      <p:sp>
        <p:nvSpPr>
          <p:cNvPr id="13" name="TextBox 12"/>
          <p:cNvSpPr txBox="1"/>
          <p:nvPr/>
        </p:nvSpPr>
        <p:spPr>
          <a:xfrm>
            <a:off x="4224528" y="2770632"/>
            <a:ext cx="1417320" cy="329184"/>
          </a:xfrm>
          <a:prstGeom prst="rect">
            <a:avLst/>
          </a:prstGeom>
          <a:noFill/>
        </p:spPr>
        <p:txBody>
          <a:bodyPr wrap="square" lIns="18288" tIns="0" rIns="18288" bIns="0" anchor="t">
            <a:spAutoFit/>
          </a:bodyPr>
          <a:lstStyle/>
          <a:p>
            <a:pPr algn="r">
              <a:spcAft>
                <a:spcPts val="0"/>
              </a:spcAft>
              <a:defRPr sz="1700" b="1">
                <a:solidFill>
                  <a:srgbClr val="008E95"/>
                </a:solidFill>
                <a:latin typeface="Aptos"/>
              </a:defRPr>
            </a:pPr>
            <a:r>
              <a:t>24,36 %</a:t>
            </a:r>
          </a:p>
        </p:txBody>
      </p:sp>
      <p:sp>
        <p:nvSpPr>
          <p:cNvPr id="14" name="Rounded Rectangle 13"/>
          <p:cNvSpPr/>
          <p:nvPr/>
        </p:nvSpPr>
        <p:spPr>
          <a:xfrm>
            <a:off x="969264" y="3191256"/>
            <a:ext cx="4590288" cy="28346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69264" y="3191256"/>
            <a:ext cx="3727313" cy="283464"/>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9264" y="3547872"/>
            <a:ext cx="2770632" cy="246888"/>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940 clients</a:t>
            </a:r>
          </a:p>
        </p:txBody>
      </p:sp>
      <p:sp>
        <p:nvSpPr>
          <p:cNvPr id="17" name="TextBox 16"/>
          <p:cNvSpPr txBox="1"/>
          <p:nvPr/>
        </p:nvSpPr>
        <p:spPr>
          <a:xfrm>
            <a:off x="960120" y="4041648"/>
            <a:ext cx="2286000" cy="310896"/>
          </a:xfrm>
          <a:prstGeom prst="rect">
            <a:avLst/>
          </a:prstGeom>
          <a:noFill/>
        </p:spPr>
        <p:txBody>
          <a:bodyPr wrap="square" lIns="18288" tIns="0" rIns="18288" bIns="0" anchor="t">
            <a:spAutoFit/>
          </a:bodyPr>
          <a:lstStyle/>
          <a:p>
            <a:pPr algn="l">
              <a:spcAft>
                <a:spcPts val="0"/>
              </a:spcAft>
              <a:defRPr sz="1600" b="1">
                <a:solidFill>
                  <a:srgbClr val="19263E"/>
                </a:solidFill>
                <a:latin typeface="Aptos"/>
              </a:defRPr>
            </a:pPr>
            <a:r>
              <a:t>Score 9 / 10</a:t>
            </a:r>
          </a:p>
        </p:txBody>
      </p:sp>
      <p:sp>
        <p:nvSpPr>
          <p:cNvPr id="18" name="TextBox 17"/>
          <p:cNvSpPr txBox="1"/>
          <p:nvPr/>
        </p:nvSpPr>
        <p:spPr>
          <a:xfrm>
            <a:off x="4224528" y="4059936"/>
            <a:ext cx="1417320" cy="329184"/>
          </a:xfrm>
          <a:prstGeom prst="rect">
            <a:avLst/>
          </a:prstGeom>
          <a:noFill/>
        </p:spPr>
        <p:txBody>
          <a:bodyPr wrap="square" lIns="18288" tIns="0" rIns="18288" bIns="0" anchor="t">
            <a:spAutoFit/>
          </a:bodyPr>
          <a:lstStyle/>
          <a:p>
            <a:pPr algn="r">
              <a:spcAft>
                <a:spcPts val="0"/>
              </a:spcAft>
              <a:defRPr sz="1700" b="1">
                <a:solidFill>
                  <a:srgbClr val="3174B5"/>
                </a:solidFill>
                <a:latin typeface="Aptos"/>
              </a:defRPr>
            </a:pPr>
            <a:r>
              <a:t>6,31 %</a:t>
            </a:r>
          </a:p>
        </p:txBody>
      </p:sp>
      <p:sp>
        <p:nvSpPr>
          <p:cNvPr id="19" name="Rounded Rectangle 18"/>
          <p:cNvSpPr/>
          <p:nvPr/>
        </p:nvSpPr>
        <p:spPr>
          <a:xfrm>
            <a:off x="969264" y="4489704"/>
            <a:ext cx="4590288" cy="283464"/>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69264" y="4489704"/>
            <a:ext cx="965490" cy="283464"/>
          </a:xfrm>
          <a:prstGeom prst="roundRect">
            <a:avLst>
              <a:gd name="adj" fmla="val 15000"/>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9264" y="4846320"/>
            <a:ext cx="2798064" cy="246888"/>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1 348 clients</a:t>
            </a:r>
          </a:p>
        </p:txBody>
      </p:sp>
      <p:sp>
        <p:nvSpPr>
          <p:cNvPr id="22" name="Rounded Rectangle 21"/>
          <p:cNvSpPr/>
          <p:nvPr/>
        </p:nvSpPr>
        <p:spPr>
          <a:xfrm>
            <a:off x="6355080" y="1865376"/>
            <a:ext cx="5202936" cy="3950208"/>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11112" y="2139696"/>
            <a:ext cx="4572000" cy="292608"/>
          </a:xfrm>
          <a:prstGeom prst="rect">
            <a:avLst/>
          </a:prstGeom>
          <a:noFill/>
        </p:spPr>
        <p:txBody>
          <a:bodyPr wrap="square" lIns="18288" tIns="0" rIns="18288" bIns="0" anchor="t">
            <a:spAutoFit/>
          </a:bodyPr>
          <a:lstStyle/>
          <a:p>
            <a:pPr algn="l">
              <a:spcAft>
                <a:spcPts val="0"/>
              </a:spcAft>
              <a:defRPr sz="1500" b="1">
                <a:solidFill>
                  <a:srgbClr val="008E95"/>
                </a:solidFill>
                <a:latin typeface="Aptos"/>
              </a:defRPr>
            </a:pPr>
            <a:r>
              <a:t>APPAREIL</a:t>
            </a:r>
          </a:p>
        </p:txBody>
      </p:sp>
      <p:sp>
        <p:nvSpPr>
          <p:cNvPr id="24" name="TextBox 23"/>
          <p:cNvSpPr txBox="1"/>
          <p:nvPr/>
        </p:nvSpPr>
        <p:spPr>
          <a:xfrm>
            <a:off x="6638544" y="2852928"/>
            <a:ext cx="2286000" cy="347472"/>
          </a:xfrm>
          <a:prstGeom prst="rect">
            <a:avLst/>
          </a:prstGeom>
          <a:noFill/>
        </p:spPr>
        <p:txBody>
          <a:bodyPr wrap="square" lIns="18288" tIns="0" rIns="18288" bIns="0" anchor="t">
            <a:spAutoFit/>
          </a:bodyPr>
          <a:lstStyle/>
          <a:p>
            <a:pPr algn="l">
              <a:spcAft>
                <a:spcPts val="0"/>
              </a:spcAft>
              <a:defRPr sz="1700" b="1">
                <a:solidFill>
                  <a:srgbClr val="19263E"/>
                </a:solidFill>
                <a:latin typeface="Aptos"/>
              </a:defRPr>
            </a:pPr>
            <a:r>
              <a:t>Mobile</a:t>
            </a:r>
          </a:p>
        </p:txBody>
      </p:sp>
      <p:sp>
        <p:nvSpPr>
          <p:cNvPr id="25" name="TextBox 24"/>
          <p:cNvSpPr txBox="1"/>
          <p:nvPr/>
        </p:nvSpPr>
        <p:spPr>
          <a:xfrm>
            <a:off x="9912096" y="2852928"/>
            <a:ext cx="1280160" cy="301752"/>
          </a:xfrm>
          <a:prstGeom prst="rect">
            <a:avLst/>
          </a:prstGeom>
          <a:noFill/>
        </p:spPr>
        <p:txBody>
          <a:bodyPr wrap="square" lIns="18288" tIns="0" rIns="18288" bIns="0" anchor="t">
            <a:spAutoFit/>
          </a:bodyPr>
          <a:lstStyle/>
          <a:p>
            <a:pPr algn="r">
              <a:spcAft>
                <a:spcPts val="0"/>
              </a:spcAft>
              <a:defRPr sz="1800" b="1">
                <a:solidFill>
                  <a:srgbClr val="008E95"/>
                </a:solidFill>
                <a:latin typeface="Aptos"/>
              </a:defRPr>
            </a:pPr>
            <a:r>
              <a:t>14.33 %</a:t>
            </a:r>
          </a:p>
        </p:txBody>
      </p:sp>
      <p:sp>
        <p:nvSpPr>
          <p:cNvPr id="26" name="Rounded Rectangle 25"/>
          <p:cNvSpPr/>
          <p:nvPr/>
        </p:nvSpPr>
        <p:spPr>
          <a:xfrm>
            <a:off x="6647688" y="3328416"/>
            <a:ext cx="4535424" cy="256032"/>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647688" y="3328416"/>
            <a:ext cx="3610701" cy="256032"/>
          </a:xfrm>
          <a:prstGeom prst="roundRect">
            <a:avLst>
              <a:gd name="adj" fmla="val 15000"/>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38544" y="3657600"/>
            <a:ext cx="2286000" cy="237744"/>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6 272 clients</a:t>
            </a:r>
          </a:p>
        </p:txBody>
      </p:sp>
      <p:sp>
        <p:nvSpPr>
          <p:cNvPr id="29" name="TextBox 28"/>
          <p:cNvSpPr txBox="1"/>
          <p:nvPr/>
        </p:nvSpPr>
        <p:spPr>
          <a:xfrm>
            <a:off x="6638544" y="4169664"/>
            <a:ext cx="2286000" cy="347472"/>
          </a:xfrm>
          <a:prstGeom prst="rect">
            <a:avLst/>
          </a:prstGeom>
          <a:noFill/>
        </p:spPr>
        <p:txBody>
          <a:bodyPr wrap="square" lIns="18288" tIns="0" rIns="18288" bIns="0" anchor="t">
            <a:spAutoFit/>
          </a:bodyPr>
          <a:lstStyle/>
          <a:p>
            <a:pPr algn="l">
              <a:spcAft>
                <a:spcPts val="0"/>
              </a:spcAft>
              <a:defRPr sz="1700" b="1">
                <a:solidFill>
                  <a:srgbClr val="19263E"/>
                </a:solidFill>
                <a:latin typeface="Aptos"/>
              </a:defRPr>
            </a:pPr>
            <a:r>
              <a:t>Desktop</a:t>
            </a:r>
          </a:p>
        </p:txBody>
      </p:sp>
      <p:sp>
        <p:nvSpPr>
          <p:cNvPr id="30" name="TextBox 29"/>
          <p:cNvSpPr txBox="1"/>
          <p:nvPr/>
        </p:nvSpPr>
        <p:spPr>
          <a:xfrm>
            <a:off x="9912096" y="4169664"/>
            <a:ext cx="1280160" cy="301752"/>
          </a:xfrm>
          <a:prstGeom prst="rect">
            <a:avLst/>
          </a:prstGeom>
          <a:noFill/>
        </p:spPr>
        <p:txBody>
          <a:bodyPr wrap="square" lIns="18288" tIns="0" rIns="18288" bIns="0" anchor="t">
            <a:spAutoFit/>
          </a:bodyPr>
          <a:lstStyle/>
          <a:p>
            <a:pPr algn="r">
              <a:spcAft>
                <a:spcPts val="0"/>
              </a:spcAft>
              <a:defRPr sz="1800" b="1">
                <a:solidFill>
                  <a:srgbClr val="3174B5"/>
                </a:solidFill>
                <a:latin typeface="Aptos"/>
              </a:defRPr>
            </a:pPr>
            <a:r>
              <a:t>12.59 %</a:t>
            </a:r>
          </a:p>
        </p:txBody>
      </p:sp>
      <p:sp>
        <p:nvSpPr>
          <p:cNvPr id="31" name="Rounded Rectangle 30"/>
          <p:cNvSpPr/>
          <p:nvPr/>
        </p:nvSpPr>
        <p:spPr>
          <a:xfrm>
            <a:off x="6647688" y="4645152"/>
            <a:ext cx="4535424" cy="256032"/>
          </a:xfrm>
          <a:prstGeom prst="roundRect">
            <a:avLst>
              <a:gd name="adj" fmla="val 15000"/>
            </a:avLst>
          </a:prstGeom>
          <a:solidFill>
            <a:srgbClr val="E7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647688" y="4645152"/>
            <a:ext cx="3172277" cy="256032"/>
          </a:xfrm>
          <a:prstGeom prst="roundRect">
            <a:avLst>
              <a:gd name="adj" fmla="val 15000"/>
            </a:avLst>
          </a:prstGeom>
          <a:solidFill>
            <a:srgbClr val="31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38544" y="4974336"/>
            <a:ext cx="2286000" cy="237744"/>
          </a:xfrm>
          <a:prstGeom prst="rect">
            <a:avLst/>
          </a:prstGeom>
          <a:noFill/>
        </p:spPr>
        <p:txBody>
          <a:bodyPr wrap="square" lIns="18288" tIns="0" rIns="18288" bIns="0" anchor="t">
            <a:spAutoFit/>
          </a:bodyPr>
          <a:lstStyle/>
          <a:p>
            <a:pPr algn="l">
              <a:spcAft>
                <a:spcPts val="0"/>
              </a:spcAft>
              <a:defRPr sz="1100" b="0">
                <a:solidFill>
                  <a:srgbClr val="64748B"/>
                </a:solidFill>
                <a:latin typeface="Aptos"/>
              </a:defRPr>
            </a:pPr>
            <a:r>
              <a:t>2 589 clients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008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320040"/>
            <a:ext cx="9144000" cy="153888"/>
          </a:xfrm>
          <a:prstGeom prst="rect">
            <a:avLst/>
          </a:prstGeom>
          <a:noFill/>
        </p:spPr>
        <p:txBody>
          <a:bodyPr wrap="square" lIns="18288" tIns="0" rIns="18288" bIns="0" anchor="t">
            <a:spAutoFit/>
          </a:bodyPr>
          <a:lstStyle/>
          <a:p>
            <a:pPr>
              <a:defRPr sz="1000" b="1">
                <a:solidFill>
                  <a:srgbClr val="008E95"/>
                </a:solidFill>
                <a:latin typeface="Aptos"/>
              </a:defRPr>
            </a:pPr>
            <a:r>
              <a:rPr dirty="0"/>
              <a:t>CUSTOMERPALACE  / </a:t>
            </a:r>
            <a:r>
              <a:rPr lang="fr-FR" dirty="0"/>
              <a:t>RENFORCEMENT PYTHON</a:t>
            </a:r>
            <a:endParaRPr dirty="0"/>
          </a:p>
        </p:txBody>
      </p:sp>
      <p:sp>
        <p:nvSpPr>
          <p:cNvPr id="5" name="TextBox 4"/>
          <p:cNvSpPr txBox="1"/>
          <p:nvPr/>
        </p:nvSpPr>
        <p:spPr>
          <a:xfrm>
            <a:off x="621792" y="758952"/>
            <a:ext cx="10881360" cy="502920"/>
          </a:xfrm>
          <a:prstGeom prst="rect">
            <a:avLst/>
          </a:prstGeom>
          <a:noFill/>
        </p:spPr>
        <p:txBody>
          <a:bodyPr wrap="square" lIns="18288" tIns="0" rIns="18288" bIns="0" anchor="t">
            <a:spAutoFit/>
          </a:bodyPr>
          <a:lstStyle/>
          <a:p>
            <a:pPr algn="l">
              <a:spcAft>
                <a:spcPts val="0"/>
              </a:spcAft>
              <a:defRPr sz="2900" b="1">
                <a:solidFill>
                  <a:srgbClr val="19263E"/>
                </a:solidFill>
                <a:latin typeface="Aptos"/>
              </a:defRPr>
            </a:pPr>
            <a:r>
              <a:t>7. Conclusion : des données plus fiables, sous conditions</a:t>
            </a:r>
          </a:p>
        </p:txBody>
      </p:sp>
      <p:sp>
        <p:nvSpPr>
          <p:cNvPr id="6" name="TextBox 5"/>
          <p:cNvSpPr txBox="1"/>
          <p:nvPr/>
        </p:nvSpPr>
        <p:spPr>
          <a:xfrm>
            <a:off x="621792" y="1335024"/>
            <a:ext cx="10789920" cy="402336"/>
          </a:xfrm>
          <a:prstGeom prst="rect">
            <a:avLst/>
          </a:prstGeom>
          <a:noFill/>
        </p:spPr>
        <p:txBody>
          <a:bodyPr wrap="square" lIns="18288" tIns="0" rIns="18288" bIns="0" anchor="t">
            <a:spAutoFit/>
          </a:bodyPr>
          <a:lstStyle/>
          <a:p>
            <a:pPr algn="l">
              <a:spcAft>
                <a:spcPts val="0"/>
              </a:spcAft>
              <a:defRPr sz="1400" b="0">
                <a:solidFill>
                  <a:srgbClr val="64748B"/>
                </a:solidFill>
                <a:latin typeface="Aptos"/>
              </a:defRPr>
            </a:pPr>
            <a:r>
              <a:t>La valeur du projet tient autant aux décisions qu’à leurs limites.</a:t>
            </a:r>
          </a:p>
        </p:txBody>
      </p:sp>
      <p:cxnSp>
        <p:nvCxnSpPr>
          <p:cNvPr id="7" name="Connector 6"/>
          <p:cNvCxnSpPr/>
          <p:nvPr/>
        </p:nvCxnSpPr>
        <p:spPr>
          <a:xfrm>
            <a:off x="621792" y="6382512"/>
            <a:ext cx="10945368" cy="0"/>
          </a:xfrm>
          <a:prstGeom prst="line">
            <a:avLst/>
          </a:prstGeom>
          <a:ln w="8890">
            <a:solidFill>
              <a:srgbClr val="DFE6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109960" y="6464808"/>
            <a:ext cx="448056" cy="201168"/>
          </a:xfrm>
          <a:prstGeom prst="rect">
            <a:avLst/>
          </a:prstGeom>
          <a:noFill/>
        </p:spPr>
        <p:txBody>
          <a:bodyPr wrap="square" lIns="18288" tIns="0" rIns="18288" bIns="0" anchor="t">
            <a:spAutoFit/>
          </a:bodyPr>
          <a:lstStyle/>
          <a:p>
            <a:pPr algn="r">
              <a:spcAft>
                <a:spcPts val="0"/>
              </a:spcAft>
              <a:defRPr sz="900" b="0">
                <a:solidFill>
                  <a:srgbClr val="64748B"/>
                </a:solidFill>
                <a:latin typeface="Aptos"/>
              </a:defRPr>
            </a:pPr>
            <a:r>
              <a:t>08</a:t>
            </a:r>
          </a:p>
        </p:txBody>
      </p:sp>
      <p:sp>
        <p:nvSpPr>
          <p:cNvPr id="10" name="Rounded Rectangle 9"/>
          <p:cNvSpPr/>
          <p:nvPr/>
        </p:nvSpPr>
        <p:spPr>
          <a:xfrm>
            <a:off x="676656" y="1911095"/>
            <a:ext cx="4901184" cy="3575304"/>
          </a:xfrm>
          <a:prstGeom prst="roundRect">
            <a:avLst>
              <a:gd name="adj" fmla="val 13000"/>
            </a:avLst>
          </a:prstGeom>
          <a:solidFill>
            <a:srgbClr val="19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2221992"/>
            <a:ext cx="3383280" cy="256032"/>
          </a:xfrm>
          <a:prstGeom prst="rect">
            <a:avLst/>
          </a:prstGeom>
          <a:noFill/>
        </p:spPr>
        <p:txBody>
          <a:bodyPr wrap="square" lIns="18288" tIns="0" rIns="18288" bIns="0" anchor="t">
            <a:spAutoFit/>
          </a:bodyPr>
          <a:lstStyle/>
          <a:p>
            <a:pPr algn="l">
              <a:spcAft>
                <a:spcPts val="0"/>
              </a:spcAft>
              <a:defRPr sz="1300" b="1">
                <a:solidFill>
                  <a:srgbClr val="ACEEE5"/>
                </a:solidFill>
                <a:latin typeface="Aptos"/>
              </a:defRPr>
            </a:pPr>
            <a:r>
              <a:t>NOTRE RÉPONSE</a:t>
            </a:r>
          </a:p>
        </p:txBody>
      </p:sp>
      <p:sp>
        <p:nvSpPr>
          <p:cNvPr id="12" name="TextBox 11"/>
          <p:cNvSpPr txBox="1"/>
          <p:nvPr/>
        </p:nvSpPr>
        <p:spPr>
          <a:xfrm>
            <a:off x="978408" y="2816352"/>
            <a:ext cx="3200400" cy="576072"/>
          </a:xfrm>
          <a:prstGeom prst="rect">
            <a:avLst/>
          </a:prstGeom>
          <a:noFill/>
        </p:spPr>
        <p:txBody>
          <a:bodyPr wrap="square" lIns="18288" tIns="0" rIns="18288" bIns="0" anchor="t">
            <a:spAutoFit/>
          </a:bodyPr>
          <a:lstStyle/>
          <a:p>
            <a:pPr algn="l">
              <a:spcAft>
                <a:spcPts val="0"/>
              </a:spcAft>
              <a:defRPr sz="3500" b="1">
                <a:solidFill>
                  <a:srgbClr val="FFFFFF"/>
                </a:solidFill>
                <a:latin typeface="Aptos"/>
              </a:defRPr>
            </a:pPr>
            <a:r>
              <a:t>OUI</a:t>
            </a:r>
          </a:p>
        </p:txBody>
      </p:sp>
      <p:sp>
        <p:nvSpPr>
          <p:cNvPr id="13" name="TextBox 12"/>
          <p:cNvSpPr txBox="1"/>
          <p:nvPr/>
        </p:nvSpPr>
        <p:spPr>
          <a:xfrm>
            <a:off x="1005840" y="3602736"/>
            <a:ext cx="4105656" cy="932688"/>
          </a:xfrm>
          <a:prstGeom prst="rect">
            <a:avLst/>
          </a:prstGeom>
          <a:noFill/>
        </p:spPr>
        <p:txBody>
          <a:bodyPr wrap="square" lIns="18288" tIns="0" rIns="18288" bIns="0" anchor="t">
            <a:spAutoFit/>
          </a:bodyPr>
          <a:lstStyle/>
          <a:p>
            <a:pPr algn="l">
              <a:spcAft>
                <a:spcPts val="0"/>
              </a:spcAft>
              <a:defRPr sz="1800" b="0">
                <a:solidFill>
                  <a:srgbClr val="FFFFFF"/>
                </a:solidFill>
                <a:latin typeface="Aptos"/>
              </a:defRPr>
            </a:pPr>
            <a:r>
              <a:t>pour des analyses descriptives</a:t>
            </a:r>
          </a:p>
          <a:p>
            <a:pPr algn="l">
              <a:spcAft>
                <a:spcPts val="0"/>
              </a:spcAft>
              <a:defRPr sz="1800" b="0">
                <a:solidFill>
                  <a:srgbClr val="FFFFFF"/>
                </a:solidFill>
                <a:latin typeface="Aptos"/>
              </a:defRPr>
            </a:pPr>
            <a:r>
              <a:t>exploratoires et documentées.</a:t>
            </a:r>
          </a:p>
        </p:txBody>
      </p:sp>
      <p:sp>
        <p:nvSpPr>
          <p:cNvPr id="14" name="Rounded Rectangle 13"/>
          <p:cNvSpPr/>
          <p:nvPr/>
        </p:nvSpPr>
        <p:spPr>
          <a:xfrm>
            <a:off x="5760720" y="1911095"/>
            <a:ext cx="5797296" cy="3575304"/>
          </a:xfrm>
          <a:prstGeom prst="roundRect">
            <a:avLst>
              <a:gd name="adj" fmla="val 13000"/>
            </a:avLst>
          </a:prstGeom>
          <a:solidFill>
            <a:srgbClr val="FFFFFF"/>
          </a:solidFill>
          <a:ln>
            <a:solidFill>
              <a:srgbClr val="DF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16752" y="2194560"/>
            <a:ext cx="5212080" cy="256032"/>
          </a:xfrm>
          <a:prstGeom prst="rect">
            <a:avLst/>
          </a:prstGeom>
          <a:noFill/>
        </p:spPr>
        <p:txBody>
          <a:bodyPr wrap="square" lIns="18288" tIns="0" rIns="18288" bIns="0" anchor="t">
            <a:spAutoFit/>
          </a:bodyPr>
          <a:lstStyle/>
          <a:p>
            <a:pPr algn="l">
              <a:spcAft>
                <a:spcPts val="0"/>
              </a:spcAft>
              <a:defRPr sz="1300" b="1">
                <a:solidFill>
                  <a:srgbClr val="008E95"/>
                </a:solidFill>
                <a:latin typeface="Aptos"/>
              </a:defRPr>
            </a:pPr>
            <a:r>
              <a:t>CE QUE NOUS NE POUVONS PAS AFFIRMER</a:t>
            </a:r>
          </a:p>
        </p:txBody>
      </p:sp>
      <p:sp>
        <p:nvSpPr>
          <p:cNvPr id="16" name="Oval 15"/>
          <p:cNvSpPr/>
          <p:nvPr/>
        </p:nvSpPr>
        <p:spPr>
          <a:xfrm>
            <a:off x="6080760" y="2816352"/>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2743200"/>
            <a:ext cx="4773168" cy="31089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Pas de dictionnaire métier officiel</a:t>
            </a:r>
          </a:p>
        </p:txBody>
      </p:sp>
      <p:sp>
        <p:nvSpPr>
          <p:cNvPr id="18" name="Oval 17"/>
          <p:cNvSpPr/>
          <p:nvPr/>
        </p:nvSpPr>
        <p:spPr>
          <a:xfrm>
            <a:off x="6080760" y="3374136"/>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3300984"/>
            <a:ext cx="4773168" cy="31089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Pas de date exacte de résiliation</a:t>
            </a:r>
          </a:p>
        </p:txBody>
      </p:sp>
      <p:sp>
        <p:nvSpPr>
          <p:cNvPr id="20" name="Oval 19"/>
          <p:cNvSpPr/>
          <p:nvPr/>
        </p:nvSpPr>
        <p:spPr>
          <a:xfrm>
            <a:off x="6080760" y="3931920"/>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3858768"/>
            <a:ext cx="4773168" cy="31089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Valeurs extrêmes non vérifiées</a:t>
            </a:r>
          </a:p>
        </p:txBody>
      </p:sp>
      <p:sp>
        <p:nvSpPr>
          <p:cNvPr id="22" name="Oval 21"/>
          <p:cNvSpPr/>
          <p:nvPr/>
        </p:nvSpPr>
        <p:spPr>
          <a:xfrm>
            <a:off x="6080760" y="4489704"/>
            <a:ext cx="118872" cy="118872"/>
          </a:xfrm>
          <a:prstGeom prst="ellipse">
            <a:avLst/>
          </a:prstGeom>
          <a:solidFill>
            <a:srgbClr val="ED9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4416552"/>
            <a:ext cx="4773168" cy="310896"/>
          </a:xfrm>
          <a:prstGeom prst="rect">
            <a:avLst/>
          </a:prstGeom>
          <a:noFill/>
        </p:spPr>
        <p:txBody>
          <a:bodyPr wrap="square" lIns="18288" tIns="0" rIns="18288" bIns="0" anchor="t">
            <a:spAutoFit/>
          </a:bodyPr>
          <a:lstStyle/>
          <a:p>
            <a:pPr algn="l">
              <a:spcAft>
                <a:spcPts val="0"/>
              </a:spcAft>
              <a:defRPr sz="1400" b="0">
                <a:solidFill>
                  <a:srgbClr val="26354C"/>
                </a:solidFill>
                <a:latin typeface="Aptos"/>
              </a:defRPr>
            </a:pPr>
            <a:r>
              <a:t>Pas de causalité ni de décision automatique</a:t>
            </a:r>
          </a:p>
        </p:txBody>
      </p:sp>
      <p:sp>
        <p:nvSpPr>
          <p:cNvPr id="24" name="TextBox 23"/>
          <p:cNvSpPr txBox="1"/>
          <p:nvPr/>
        </p:nvSpPr>
        <p:spPr>
          <a:xfrm>
            <a:off x="768096" y="5815584"/>
            <a:ext cx="10780776" cy="292608"/>
          </a:xfrm>
          <a:prstGeom prst="rect">
            <a:avLst/>
          </a:prstGeom>
          <a:noFill/>
        </p:spPr>
        <p:txBody>
          <a:bodyPr wrap="square" lIns="18288" tIns="0" rIns="18288" bIns="0" anchor="t">
            <a:spAutoFit/>
          </a:bodyPr>
          <a:lstStyle/>
          <a:p>
            <a:pPr algn="ctr">
              <a:spcAft>
                <a:spcPts val="0"/>
              </a:spcAft>
              <a:defRPr sz="1400" b="1">
                <a:solidFill>
                  <a:srgbClr val="006D75"/>
                </a:solidFill>
                <a:latin typeface="Aptos"/>
              </a:defRPr>
            </a:pPr>
            <a:r>
              <a:t>Message clé : un dataset fiable est un dataset dont les règles et les incertitudes sont explicites.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1780</Words>
  <Application>Microsoft Office PowerPoint</Application>
  <PresentationFormat>Grand écran</PresentationFormat>
  <Paragraphs>144</Paragraphs>
  <Slides>8</Slides>
  <Notes>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8</vt:i4>
      </vt:variant>
    </vt:vector>
  </HeadingPairs>
  <TitlesOfParts>
    <vt:vector size="11"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Tran Duc-Thinh</cp:lastModifiedBy>
  <cp:revision>2</cp:revision>
  <dcterms:created xsi:type="dcterms:W3CDTF">2013-01-27T09:14:16Z</dcterms:created>
  <dcterms:modified xsi:type="dcterms:W3CDTF">2026-10-13T09:16:06Z</dcterms:modified>
  <cp:category/>
</cp:coreProperties>
</file>